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layfair Display SC Bold" charset="1" panose="00000800000000000000"/>
      <p:regular r:id="rId23"/>
    </p:embeddedFont>
    <p:embeddedFont>
      <p:font typeface="Montserrat Classic Bold" charset="1" panose="00000800000000000000"/>
      <p:regular r:id="rId24"/>
    </p:embeddedFont>
    <p:embeddedFont>
      <p:font typeface="Binggo Wood" charset="1" panose="00000000000000000000"/>
      <p:regular r:id="rId25"/>
    </p:embeddedFont>
    <p:embeddedFont>
      <p:font typeface="Oswald Bold" charset="1" panose="00000800000000000000"/>
      <p:regular r:id="rId26"/>
    </p:embeddedFont>
    <p:embeddedFont>
      <p:font typeface="Oswald" charset="1" panose="00000500000000000000"/>
      <p:regular r:id="rId27"/>
    </p:embeddedFont>
    <p:embeddedFont>
      <p:font typeface="DM Sans" charset="1" panose="00000000000000000000"/>
      <p:regular r:id="rId28"/>
    </p:embeddedFont>
    <p:embeddedFont>
      <p:font typeface="DM Sans Italics" charset="1" panose="00000000000000000000"/>
      <p:regular r:id="rId29"/>
    </p:embeddedFont>
    <p:embeddedFont>
      <p:font typeface="DM Sans Bold" charset="1" panose="00000000000000000000"/>
      <p:regular r:id="rId30"/>
    </p:embeddedFont>
    <p:embeddedFont>
      <p:font typeface="Canva Sans" charset="1" panose="020B0503030501040103"/>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2.png" Type="http://schemas.openxmlformats.org/officeDocument/2006/relationships/image"/><Relationship Id="rId14" Target="../media/image3.svg" Type="http://schemas.openxmlformats.org/officeDocument/2006/relationships/image"/><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2.png" Type="http://schemas.openxmlformats.org/officeDocument/2006/relationships/image"/><Relationship Id="rId14" Target="../media/image3.svg" Type="http://schemas.openxmlformats.org/officeDocument/2006/relationships/image"/><Relationship Id="rId2" Target="../media/image1.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2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2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22.jpeg" Type="http://schemas.openxmlformats.org/officeDocument/2006/relationships/image"/><Relationship Id="rId6" Target="../media/image2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7659121">
            <a:off x="15091031" y="5585714"/>
            <a:ext cx="7629294" cy="7828566"/>
          </a:xfrm>
          <a:custGeom>
            <a:avLst/>
            <a:gdLst/>
            <a:ahLst/>
            <a:cxnLst/>
            <a:rect r="r" b="b" t="t" l="l"/>
            <a:pathLst>
              <a:path h="7828566" w="7629294">
                <a:moveTo>
                  <a:pt x="0" y="0"/>
                </a:moveTo>
                <a:lnTo>
                  <a:pt x="7629294" y="0"/>
                </a:lnTo>
                <a:lnTo>
                  <a:pt x="7629294" y="7828566"/>
                </a:lnTo>
                <a:lnTo>
                  <a:pt x="0" y="78285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258071" y="-4629150"/>
            <a:ext cx="9022634" cy="9258300"/>
          </a:xfrm>
          <a:custGeom>
            <a:avLst/>
            <a:gdLst/>
            <a:ahLst/>
            <a:cxnLst/>
            <a:rect r="r" b="b" t="t" l="l"/>
            <a:pathLst>
              <a:path h="9258300" w="9022634">
                <a:moveTo>
                  <a:pt x="0" y="0"/>
                </a:moveTo>
                <a:lnTo>
                  <a:pt x="9022634" y="0"/>
                </a:lnTo>
                <a:lnTo>
                  <a:pt x="9022634" y="9258300"/>
                </a:lnTo>
                <a:lnTo>
                  <a:pt x="0" y="9258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4069659" y="2468826"/>
            <a:ext cx="10315369" cy="4208864"/>
            <a:chOff x="0" y="0"/>
            <a:chExt cx="1992066" cy="812800"/>
          </a:xfrm>
        </p:grpSpPr>
        <p:sp>
          <p:nvSpPr>
            <p:cNvPr name="Freeform 6" id="6"/>
            <p:cNvSpPr/>
            <p:nvPr/>
          </p:nvSpPr>
          <p:spPr>
            <a:xfrm flipH="false" flipV="false" rot="0">
              <a:off x="0" y="0"/>
              <a:ext cx="1992066" cy="812800"/>
            </a:xfrm>
            <a:custGeom>
              <a:avLst/>
              <a:gdLst/>
              <a:ahLst/>
              <a:cxnLst/>
              <a:rect r="r" b="b" t="t" l="l"/>
              <a:pathLst>
                <a:path h="812800" w="1992066">
                  <a:moveTo>
                    <a:pt x="0" y="0"/>
                  </a:moveTo>
                  <a:lnTo>
                    <a:pt x="1992066" y="0"/>
                  </a:lnTo>
                  <a:lnTo>
                    <a:pt x="1992066" y="812800"/>
                  </a:lnTo>
                  <a:lnTo>
                    <a:pt x="0" y="812800"/>
                  </a:lnTo>
                  <a:close/>
                </a:path>
              </a:pathLst>
            </a:custGeom>
            <a:solidFill>
              <a:srgbClr val="000000">
                <a:alpha val="0"/>
              </a:srgbClr>
            </a:solidFill>
            <a:ln w="38100" cap="sq">
              <a:solidFill>
                <a:srgbClr val="000000"/>
              </a:solidFill>
              <a:prstDash val="solid"/>
              <a:miter/>
            </a:ln>
          </p:spPr>
        </p:sp>
        <p:sp>
          <p:nvSpPr>
            <p:cNvPr name="TextBox 7" id="7"/>
            <p:cNvSpPr txBox="true"/>
            <p:nvPr/>
          </p:nvSpPr>
          <p:spPr>
            <a:xfrm>
              <a:off x="0" y="-38100"/>
              <a:ext cx="1992066" cy="850900"/>
            </a:xfrm>
            <a:prstGeom prst="rect">
              <a:avLst/>
            </a:prstGeom>
          </p:spPr>
          <p:txBody>
            <a:bodyPr anchor="ctr" rtlCol="false" tIns="50800" lIns="50800" bIns="50800" rIns="50800"/>
            <a:lstStyle/>
            <a:p>
              <a:pPr algn="l">
                <a:lnSpc>
                  <a:spcPts val="5849"/>
                </a:lnSpc>
              </a:pPr>
              <a:r>
                <a:rPr lang="en-US" sz="4499">
                  <a:solidFill>
                    <a:srgbClr val="000000"/>
                  </a:solidFill>
                  <a:latin typeface="Playfair Display SC Bold"/>
                </a:rPr>
                <a:t>A Comparative Analysis of Object Detection and Tracking Algorithms in Vehicle Surveillance</a:t>
              </a:r>
            </a:p>
          </p:txBody>
        </p:sp>
      </p:grpSp>
      <p:sp>
        <p:nvSpPr>
          <p:cNvPr name="TextBox 8" id="8"/>
          <p:cNvSpPr txBox="true"/>
          <p:nvPr/>
        </p:nvSpPr>
        <p:spPr>
          <a:xfrm rot="0">
            <a:off x="2719596" y="7082075"/>
            <a:ext cx="12848809" cy="441638"/>
          </a:xfrm>
          <a:prstGeom prst="rect">
            <a:avLst/>
          </a:prstGeom>
        </p:spPr>
        <p:txBody>
          <a:bodyPr anchor="t" rtlCol="false" tIns="0" lIns="0" bIns="0" rIns="0">
            <a:spAutoFit/>
          </a:bodyPr>
          <a:lstStyle/>
          <a:p>
            <a:pPr algn="ctr">
              <a:lnSpc>
                <a:spcPts val="3661"/>
              </a:lnSpc>
            </a:pPr>
            <a:r>
              <a:rPr lang="en-US" sz="2653" spc="140">
                <a:solidFill>
                  <a:srgbClr val="231F20"/>
                </a:solidFill>
                <a:latin typeface="Montserrat Classic Bold"/>
              </a:rPr>
              <a:t>BTECH MAJOR PROJECT REPORT</a:t>
            </a:r>
          </a:p>
        </p:txBody>
      </p:sp>
      <p:sp>
        <p:nvSpPr>
          <p:cNvPr name="TextBox 9" id="9"/>
          <p:cNvSpPr txBox="true"/>
          <p:nvPr/>
        </p:nvSpPr>
        <p:spPr>
          <a:xfrm rot="0">
            <a:off x="9712789" y="7857088"/>
            <a:ext cx="6394103" cy="1937358"/>
          </a:xfrm>
          <a:prstGeom prst="rect">
            <a:avLst/>
          </a:prstGeom>
        </p:spPr>
        <p:txBody>
          <a:bodyPr anchor="t" rtlCol="false" tIns="0" lIns="0" bIns="0" rIns="0">
            <a:spAutoFit/>
          </a:bodyPr>
          <a:lstStyle/>
          <a:p>
            <a:pPr algn="ctr">
              <a:lnSpc>
                <a:spcPts val="5041"/>
              </a:lnSpc>
            </a:pPr>
            <a:r>
              <a:rPr lang="en-US" sz="3601">
                <a:solidFill>
                  <a:srgbClr val="231F20"/>
                </a:solidFill>
                <a:latin typeface="Binggo Wood"/>
              </a:rPr>
              <a:t>By</a:t>
            </a:r>
          </a:p>
          <a:p>
            <a:pPr algn="ctr">
              <a:lnSpc>
                <a:spcPts val="5041"/>
              </a:lnSpc>
            </a:pPr>
            <a:r>
              <a:rPr lang="en-US" sz="3601">
                <a:solidFill>
                  <a:srgbClr val="231F20"/>
                </a:solidFill>
                <a:latin typeface="Binggo Wood"/>
              </a:rPr>
              <a:t> Shivansh (2K20/SE/129)</a:t>
            </a:r>
          </a:p>
          <a:p>
            <a:pPr algn="ctr">
              <a:lnSpc>
                <a:spcPts val="5041"/>
              </a:lnSpc>
            </a:pPr>
            <a:r>
              <a:rPr lang="en-US" sz="3601">
                <a:solidFill>
                  <a:srgbClr val="231F20"/>
                </a:solidFill>
                <a:latin typeface="Binggo Wood"/>
              </a:rPr>
              <a:t>        Susheet Mohan (2K20/SE/139)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7659121">
            <a:off x="-4012602" y="5585714"/>
            <a:ext cx="7629294" cy="7828566"/>
          </a:xfrm>
          <a:custGeom>
            <a:avLst/>
            <a:gdLst/>
            <a:ahLst/>
            <a:cxnLst/>
            <a:rect r="r" b="b" t="t" l="l"/>
            <a:pathLst>
              <a:path h="7828566" w="7629294">
                <a:moveTo>
                  <a:pt x="0" y="0"/>
                </a:moveTo>
                <a:lnTo>
                  <a:pt x="7629294" y="0"/>
                </a:lnTo>
                <a:lnTo>
                  <a:pt x="7629294" y="7828566"/>
                </a:lnTo>
                <a:lnTo>
                  <a:pt x="0" y="78285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019320" y="2901697"/>
            <a:ext cx="1400485" cy="6220804"/>
            <a:chOff x="0" y="0"/>
            <a:chExt cx="368852" cy="1638401"/>
          </a:xfrm>
        </p:grpSpPr>
        <p:sp>
          <p:nvSpPr>
            <p:cNvPr name="Freeform 4" id="4"/>
            <p:cNvSpPr/>
            <p:nvPr/>
          </p:nvSpPr>
          <p:spPr>
            <a:xfrm flipH="false" flipV="false" rot="0">
              <a:off x="0" y="0"/>
              <a:ext cx="368852" cy="1638401"/>
            </a:xfrm>
            <a:custGeom>
              <a:avLst/>
              <a:gdLst/>
              <a:ahLst/>
              <a:cxnLst/>
              <a:rect r="r" b="b" t="t" l="l"/>
              <a:pathLst>
                <a:path h="1638401" w="368852">
                  <a:moveTo>
                    <a:pt x="0" y="0"/>
                  </a:moveTo>
                  <a:lnTo>
                    <a:pt x="368852" y="0"/>
                  </a:lnTo>
                  <a:lnTo>
                    <a:pt x="368852" y="1638401"/>
                  </a:lnTo>
                  <a:lnTo>
                    <a:pt x="0" y="1638401"/>
                  </a:lnTo>
                  <a:close/>
                </a:path>
              </a:pathLst>
            </a:custGeom>
            <a:solidFill>
              <a:srgbClr val="CCCCCC"/>
            </a:solidFill>
          </p:spPr>
        </p:sp>
        <p:sp>
          <p:nvSpPr>
            <p:cNvPr name="TextBox 5" id="5"/>
            <p:cNvSpPr txBox="true"/>
            <p:nvPr/>
          </p:nvSpPr>
          <p:spPr>
            <a:xfrm>
              <a:off x="0" y="-19050"/>
              <a:ext cx="368852" cy="1657451"/>
            </a:xfrm>
            <a:prstGeom prst="rect">
              <a:avLst/>
            </a:prstGeom>
          </p:spPr>
          <p:txBody>
            <a:bodyPr anchor="ctr" rtlCol="false" tIns="50800" lIns="50800" bIns="50800" rIns="50800"/>
            <a:lstStyle/>
            <a:p>
              <a:pPr algn="ctr">
                <a:lnSpc>
                  <a:spcPts val="2859"/>
                </a:lnSpc>
              </a:pPr>
            </a:p>
          </p:txBody>
        </p:sp>
      </p:grpSp>
      <p:sp>
        <p:nvSpPr>
          <p:cNvPr name="TextBox 6" id="6"/>
          <p:cNvSpPr txBox="true"/>
          <p:nvPr/>
        </p:nvSpPr>
        <p:spPr>
          <a:xfrm rot="0">
            <a:off x="5019320" y="473921"/>
            <a:ext cx="7416941" cy="1683727"/>
          </a:xfrm>
          <a:prstGeom prst="rect">
            <a:avLst/>
          </a:prstGeom>
        </p:spPr>
        <p:txBody>
          <a:bodyPr anchor="t" rtlCol="false" tIns="0" lIns="0" bIns="0" rIns="0">
            <a:spAutoFit/>
          </a:bodyPr>
          <a:lstStyle/>
          <a:p>
            <a:pPr algn="ctr">
              <a:lnSpc>
                <a:spcPts val="13774"/>
              </a:lnSpc>
            </a:pPr>
            <a:r>
              <a:rPr lang="en-US" sz="9981" spc="978">
                <a:solidFill>
                  <a:srgbClr val="231F20"/>
                </a:solidFill>
                <a:latin typeface="Oswald Bold"/>
              </a:rPr>
              <a:t>CONTENT</a:t>
            </a:r>
          </a:p>
        </p:txBody>
      </p:sp>
      <p:sp>
        <p:nvSpPr>
          <p:cNvPr name="Freeform 7" id="7"/>
          <p:cNvSpPr/>
          <p:nvPr/>
        </p:nvSpPr>
        <p:spPr>
          <a:xfrm flipH="false" flipV="false" rot="2016048">
            <a:off x="12243487" y="-1005305"/>
            <a:ext cx="10749463" cy="2687366"/>
          </a:xfrm>
          <a:custGeom>
            <a:avLst/>
            <a:gdLst/>
            <a:ahLst/>
            <a:cxnLst/>
            <a:rect r="r" b="b" t="t" l="l"/>
            <a:pathLst>
              <a:path h="2687366" w="10749463">
                <a:moveTo>
                  <a:pt x="0" y="0"/>
                </a:moveTo>
                <a:lnTo>
                  <a:pt x="10749463" y="0"/>
                </a:lnTo>
                <a:lnTo>
                  <a:pt x="10749463" y="2687365"/>
                </a:lnTo>
                <a:lnTo>
                  <a:pt x="0" y="26873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5231353" y="3225185"/>
            <a:ext cx="937219" cy="657225"/>
          </a:xfrm>
          <a:prstGeom prst="rect">
            <a:avLst/>
          </a:prstGeom>
        </p:spPr>
        <p:txBody>
          <a:bodyPr anchor="t" rtlCol="false" tIns="0" lIns="0" bIns="0" rIns="0">
            <a:spAutoFit/>
          </a:bodyPr>
          <a:lstStyle/>
          <a:p>
            <a:pPr algn="ctr">
              <a:lnSpc>
                <a:spcPts val="5126"/>
              </a:lnSpc>
            </a:pPr>
            <a:r>
              <a:rPr lang="en-US" sz="4271">
                <a:solidFill>
                  <a:srgbClr val="363636"/>
                </a:solidFill>
                <a:latin typeface="Oswald Bold Italics"/>
              </a:rPr>
              <a:t>01</a:t>
            </a:r>
          </a:p>
        </p:txBody>
      </p:sp>
      <p:sp>
        <p:nvSpPr>
          <p:cNvPr name="TextBox 9" id="9"/>
          <p:cNvSpPr txBox="true"/>
          <p:nvPr/>
        </p:nvSpPr>
        <p:spPr>
          <a:xfrm rot="0">
            <a:off x="5231353" y="4022304"/>
            <a:ext cx="937219" cy="657225"/>
          </a:xfrm>
          <a:prstGeom prst="rect">
            <a:avLst/>
          </a:prstGeom>
        </p:spPr>
        <p:txBody>
          <a:bodyPr anchor="t" rtlCol="false" tIns="0" lIns="0" bIns="0" rIns="0">
            <a:spAutoFit/>
          </a:bodyPr>
          <a:lstStyle/>
          <a:p>
            <a:pPr algn="ctr">
              <a:lnSpc>
                <a:spcPts val="5126"/>
              </a:lnSpc>
            </a:pPr>
            <a:r>
              <a:rPr lang="en-US" sz="4271">
                <a:solidFill>
                  <a:srgbClr val="363636"/>
                </a:solidFill>
                <a:latin typeface="Oswald Bold Italics"/>
              </a:rPr>
              <a:t>02</a:t>
            </a:r>
          </a:p>
        </p:txBody>
      </p:sp>
      <p:sp>
        <p:nvSpPr>
          <p:cNvPr name="TextBox 10" id="10"/>
          <p:cNvSpPr txBox="true"/>
          <p:nvPr/>
        </p:nvSpPr>
        <p:spPr>
          <a:xfrm rot="0">
            <a:off x="5231353" y="4903461"/>
            <a:ext cx="937219" cy="657225"/>
          </a:xfrm>
          <a:prstGeom prst="rect">
            <a:avLst/>
          </a:prstGeom>
        </p:spPr>
        <p:txBody>
          <a:bodyPr anchor="t" rtlCol="false" tIns="0" lIns="0" bIns="0" rIns="0">
            <a:spAutoFit/>
          </a:bodyPr>
          <a:lstStyle/>
          <a:p>
            <a:pPr algn="ctr">
              <a:lnSpc>
                <a:spcPts val="5126"/>
              </a:lnSpc>
            </a:pPr>
            <a:r>
              <a:rPr lang="en-US" sz="4271">
                <a:solidFill>
                  <a:srgbClr val="363636"/>
                </a:solidFill>
                <a:latin typeface="Oswald Bold Italics"/>
              </a:rPr>
              <a:t>03</a:t>
            </a:r>
          </a:p>
        </p:txBody>
      </p:sp>
      <p:sp>
        <p:nvSpPr>
          <p:cNvPr name="TextBox 11" id="11"/>
          <p:cNvSpPr txBox="true"/>
          <p:nvPr/>
        </p:nvSpPr>
        <p:spPr>
          <a:xfrm rot="0">
            <a:off x="5231353" y="5700580"/>
            <a:ext cx="937219" cy="657225"/>
          </a:xfrm>
          <a:prstGeom prst="rect">
            <a:avLst/>
          </a:prstGeom>
        </p:spPr>
        <p:txBody>
          <a:bodyPr anchor="t" rtlCol="false" tIns="0" lIns="0" bIns="0" rIns="0">
            <a:spAutoFit/>
          </a:bodyPr>
          <a:lstStyle/>
          <a:p>
            <a:pPr algn="ctr">
              <a:lnSpc>
                <a:spcPts val="5126"/>
              </a:lnSpc>
            </a:pPr>
            <a:r>
              <a:rPr lang="en-US" sz="4271">
                <a:solidFill>
                  <a:srgbClr val="363636"/>
                </a:solidFill>
                <a:latin typeface="Oswald Bold Italics"/>
              </a:rPr>
              <a:t>04</a:t>
            </a:r>
          </a:p>
        </p:txBody>
      </p:sp>
      <p:sp>
        <p:nvSpPr>
          <p:cNvPr name="TextBox 12" id="12"/>
          <p:cNvSpPr txBox="true"/>
          <p:nvPr/>
        </p:nvSpPr>
        <p:spPr>
          <a:xfrm rot="0">
            <a:off x="5250954" y="6492957"/>
            <a:ext cx="937219" cy="657225"/>
          </a:xfrm>
          <a:prstGeom prst="rect">
            <a:avLst/>
          </a:prstGeom>
        </p:spPr>
        <p:txBody>
          <a:bodyPr anchor="t" rtlCol="false" tIns="0" lIns="0" bIns="0" rIns="0">
            <a:spAutoFit/>
          </a:bodyPr>
          <a:lstStyle/>
          <a:p>
            <a:pPr algn="ctr">
              <a:lnSpc>
                <a:spcPts val="5126"/>
              </a:lnSpc>
            </a:pPr>
            <a:r>
              <a:rPr lang="en-US" sz="4271">
                <a:solidFill>
                  <a:srgbClr val="363636"/>
                </a:solidFill>
                <a:latin typeface="Oswald Bold Italics"/>
              </a:rPr>
              <a:t>05</a:t>
            </a:r>
          </a:p>
        </p:txBody>
      </p:sp>
      <p:sp>
        <p:nvSpPr>
          <p:cNvPr name="TextBox 13" id="13"/>
          <p:cNvSpPr txBox="true"/>
          <p:nvPr/>
        </p:nvSpPr>
        <p:spPr>
          <a:xfrm rot="0">
            <a:off x="5250954" y="7323921"/>
            <a:ext cx="937219" cy="657225"/>
          </a:xfrm>
          <a:prstGeom prst="rect">
            <a:avLst/>
          </a:prstGeom>
        </p:spPr>
        <p:txBody>
          <a:bodyPr anchor="t" rtlCol="false" tIns="0" lIns="0" bIns="0" rIns="0">
            <a:spAutoFit/>
          </a:bodyPr>
          <a:lstStyle/>
          <a:p>
            <a:pPr algn="ctr">
              <a:lnSpc>
                <a:spcPts val="5126"/>
              </a:lnSpc>
            </a:pPr>
            <a:r>
              <a:rPr lang="en-US" sz="4271">
                <a:solidFill>
                  <a:srgbClr val="363636"/>
                </a:solidFill>
                <a:latin typeface="Oswald Bold Italics"/>
              </a:rPr>
              <a:t>06</a:t>
            </a:r>
          </a:p>
        </p:txBody>
      </p:sp>
      <p:sp>
        <p:nvSpPr>
          <p:cNvPr name="TextBox 14" id="14"/>
          <p:cNvSpPr txBox="true"/>
          <p:nvPr/>
        </p:nvSpPr>
        <p:spPr>
          <a:xfrm rot="0">
            <a:off x="6607430" y="3333137"/>
            <a:ext cx="5790503" cy="418548"/>
          </a:xfrm>
          <a:prstGeom prst="rect">
            <a:avLst/>
          </a:prstGeom>
        </p:spPr>
        <p:txBody>
          <a:bodyPr anchor="t" rtlCol="false" tIns="0" lIns="0" bIns="0" rIns="0">
            <a:spAutoFit/>
          </a:bodyPr>
          <a:lstStyle/>
          <a:p>
            <a:pPr algn="l">
              <a:lnSpc>
                <a:spcPts val="3483"/>
              </a:lnSpc>
            </a:pPr>
            <a:r>
              <a:rPr lang="en-US" sz="2524" spc="247">
                <a:solidFill>
                  <a:srgbClr val="231F20"/>
                </a:solidFill>
                <a:latin typeface="DM Sans"/>
              </a:rPr>
              <a:t>INTRODUCTION</a:t>
            </a:r>
          </a:p>
        </p:txBody>
      </p:sp>
      <p:sp>
        <p:nvSpPr>
          <p:cNvPr name="TextBox 15" id="15"/>
          <p:cNvSpPr txBox="true"/>
          <p:nvPr/>
        </p:nvSpPr>
        <p:spPr>
          <a:xfrm rot="0">
            <a:off x="6607430" y="4127355"/>
            <a:ext cx="6076629" cy="418548"/>
          </a:xfrm>
          <a:prstGeom prst="rect">
            <a:avLst/>
          </a:prstGeom>
        </p:spPr>
        <p:txBody>
          <a:bodyPr anchor="t" rtlCol="false" tIns="0" lIns="0" bIns="0" rIns="0">
            <a:spAutoFit/>
          </a:bodyPr>
          <a:lstStyle/>
          <a:p>
            <a:pPr algn="l">
              <a:lnSpc>
                <a:spcPts val="3483"/>
              </a:lnSpc>
            </a:pPr>
            <a:r>
              <a:rPr lang="en-US" sz="2524" spc="247">
                <a:solidFill>
                  <a:srgbClr val="231F20"/>
                </a:solidFill>
                <a:latin typeface="DM Sans"/>
              </a:rPr>
              <a:t>OVERVIEW</a:t>
            </a:r>
          </a:p>
        </p:txBody>
      </p:sp>
      <p:sp>
        <p:nvSpPr>
          <p:cNvPr name="TextBox 16" id="16"/>
          <p:cNvSpPr txBox="true"/>
          <p:nvPr/>
        </p:nvSpPr>
        <p:spPr>
          <a:xfrm rot="0">
            <a:off x="6607430" y="5047445"/>
            <a:ext cx="6696887" cy="418548"/>
          </a:xfrm>
          <a:prstGeom prst="rect">
            <a:avLst/>
          </a:prstGeom>
        </p:spPr>
        <p:txBody>
          <a:bodyPr anchor="t" rtlCol="false" tIns="0" lIns="0" bIns="0" rIns="0">
            <a:spAutoFit/>
          </a:bodyPr>
          <a:lstStyle/>
          <a:p>
            <a:pPr algn="l" marL="0" indent="0" lvl="0">
              <a:lnSpc>
                <a:spcPts val="3483"/>
              </a:lnSpc>
              <a:spcBef>
                <a:spcPct val="0"/>
              </a:spcBef>
            </a:pPr>
            <a:r>
              <a:rPr lang="en-US" sz="2524" spc="247">
                <a:solidFill>
                  <a:srgbClr val="231F20"/>
                </a:solidFill>
                <a:latin typeface="DM Sans"/>
              </a:rPr>
              <a:t>RELATED WORK / LITERATURE REVIEW</a:t>
            </a:r>
          </a:p>
        </p:txBody>
      </p:sp>
      <p:sp>
        <p:nvSpPr>
          <p:cNvPr name="TextBox 17" id="17"/>
          <p:cNvSpPr txBox="true"/>
          <p:nvPr/>
        </p:nvSpPr>
        <p:spPr>
          <a:xfrm rot="0">
            <a:off x="6607430" y="5841663"/>
            <a:ext cx="8093334" cy="418548"/>
          </a:xfrm>
          <a:prstGeom prst="rect">
            <a:avLst/>
          </a:prstGeom>
        </p:spPr>
        <p:txBody>
          <a:bodyPr anchor="t" rtlCol="false" tIns="0" lIns="0" bIns="0" rIns="0">
            <a:spAutoFit/>
          </a:bodyPr>
          <a:lstStyle/>
          <a:p>
            <a:pPr algn="l" marL="0" indent="0" lvl="0">
              <a:lnSpc>
                <a:spcPts val="3483"/>
              </a:lnSpc>
              <a:spcBef>
                <a:spcPct val="0"/>
              </a:spcBef>
            </a:pPr>
            <a:r>
              <a:rPr lang="en-US" sz="2524" spc="247">
                <a:solidFill>
                  <a:srgbClr val="231F20"/>
                </a:solidFill>
                <a:latin typeface="DM Sans"/>
              </a:rPr>
              <a:t>LITERATURE GAP &amp; RESEARCH QUESTIONS</a:t>
            </a:r>
          </a:p>
        </p:txBody>
      </p:sp>
      <p:sp>
        <p:nvSpPr>
          <p:cNvPr name="TextBox 18" id="18"/>
          <p:cNvSpPr txBox="true"/>
          <p:nvPr/>
        </p:nvSpPr>
        <p:spPr>
          <a:xfrm rot="0">
            <a:off x="6607430" y="6642507"/>
            <a:ext cx="6076629" cy="418548"/>
          </a:xfrm>
          <a:prstGeom prst="rect">
            <a:avLst/>
          </a:prstGeom>
        </p:spPr>
        <p:txBody>
          <a:bodyPr anchor="t" rtlCol="false" tIns="0" lIns="0" bIns="0" rIns="0">
            <a:spAutoFit/>
          </a:bodyPr>
          <a:lstStyle/>
          <a:p>
            <a:pPr algn="l" marL="0" indent="0" lvl="0">
              <a:lnSpc>
                <a:spcPts val="3483"/>
              </a:lnSpc>
              <a:spcBef>
                <a:spcPct val="0"/>
              </a:spcBef>
            </a:pPr>
            <a:r>
              <a:rPr lang="en-US" sz="2524" spc="247">
                <a:solidFill>
                  <a:srgbClr val="231F20"/>
                </a:solidFill>
                <a:latin typeface="DM Sans"/>
              </a:rPr>
              <a:t>TIMELINE</a:t>
            </a:r>
          </a:p>
        </p:txBody>
      </p:sp>
      <p:sp>
        <p:nvSpPr>
          <p:cNvPr name="TextBox 19" id="19"/>
          <p:cNvSpPr txBox="true"/>
          <p:nvPr/>
        </p:nvSpPr>
        <p:spPr>
          <a:xfrm rot="0">
            <a:off x="6607430" y="8219547"/>
            <a:ext cx="5790503" cy="418548"/>
          </a:xfrm>
          <a:prstGeom prst="rect">
            <a:avLst/>
          </a:prstGeom>
        </p:spPr>
        <p:txBody>
          <a:bodyPr anchor="t" rtlCol="false" tIns="0" lIns="0" bIns="0" rIns="0">
            <a:spAutoFit/>
          </a:bodyPr>
          <a:lstStyle/>
          <a:p>
            <a:pPr algn="l" marL="0" indent="0" lvl="0">
              <a:lnSpc>
                <a:spcPts val="3483"/>
              </a:lnSpc>
              <a:spcBef>
                <a:spcPct val="0"/>
              </a:spcBef>
            </a:pPr>
            <a:r>
              <a:rPr lang="en-US" sz="2524" spc="247">
                <a:solidFill>
                  <a:srgbClr val="231F20"/>
                </a:solidFill>
                <a:latin typeface="DM Sans"/>
              </a:rPr>
              <a:t>REFERENCES</a:t>
            </a:r>
          </a:p>
        </p:txBody>
      </p:sp>
      <p:sp>
        <p:nvSpPr>
          <p:cNvPr name="TextBox 20" id="20"/>
          <p:cNvSpPr txBox="true"/>
          <p:nvPr/>
        </p:nvSpPr>
        <p:spPr>
          <a:xfrm rot="0">
            <a:off x="5250954" y="8114496"/>
            <a:ext cx="937219" cy="657225"/>
          </a:xfrm>
          <a:prstGeom prst="rect">
            <a:avLst/>
          </a:prstGeom>
        </p:spPr>
        <p:txBody>
          <a:bodyPr anchor="t" rtlCol="false" tIns="0" lIns="0" bIns="0" rIns="0">
            <a:spAutoFit/>
          </a:bodyPr>
          <a:lstStyle/>
          <a:p>
            <a:pPr algn="ctr">
              <a:lnSpc>
                <a:spcPts val="5126"/>
              </a:lnSpc>
            </a:pPr>
            <a:r>
              <a:rPr lang="en-US" sz="4271">
                <a:solidFill>
                  <a:srgbClr val="363636"/>
                </a:solidFill>
                <a:latin typeface="Oswald Bold Italics"/>
              </a:rPr>
              <a:t>07</a:t>
            </a:r>
          </a:p>
        </p:txBody>
      </p:sp>
      <p:sp>
        <p:nvSpPr>
          <p:cNvPr name="TextBox 21" id="21"/>
          <p:cNvSpPr txBox="true"/>
          <p:nvPr/>
        </p:nvSpPr>
        <p:spPr>
          <a:xfrm rot="0">
            <a:off x="6607430" y="7428972"/>
            <a:ext cx="6076629" cy="418548"/>
          </a:xfrm>
          <a:prstGeom prst="rect">
            <a:avLst/>
          </a:prstGeom>
        </p:spPr>
        <p:txBody>
          <a:bodyPr anchor="t" rtlCol="false" tIns="0" lIns="0" bIns="0" rIns="0">
            <a:spAutoFit/>
          </a:bodyPr>
          <a:lstStyle/>
          <a:p>
            <a:pPr algn="l" marL="0" indent="0" lvl="0">
              <a:lnSpc>
                <a:spcPts val="3483"/>
              </a:lnSpc>
              <a:spcBef>
                <a:spcPct val="0"/>
              </a:spcBef>
            </a:pPr>
            <a:r>
              <a:rPr lang="en-US" sz="2524" spc="247">
                <a:solidFill>
                  <a:srgbClr val="231F20"/>
                </a:solidFill>
                <a:latin typeface="DM Sans"/>
              </a:rPr>
              <a:t>RESULT</a:t>
            </a:r>
          </a:p>
        </p:txBody>
      </p:sp>
      <p:sp>
        <p:nvSpPr>
          <p:cNvPr name="Freeform 22" id="22"/>
          <p:cNvSpPr/>
          <p:nvPr/>
        </p:nvSpPr>
        <p:spPr>
          <a:xfrm flipH="false" flipV="false" rot="7659121">
            <a:off x="13231547" y="5662458"/>
            <a:ext cx="7629294" cy="7828566"/>
          </a:xfrm>
          <a:custGeom>
            <a:avLst/>
            <a:gdLst/>
            <a:ahLst/>
            <a:cxnLst/>
            <a:rect r="r" b="b" t="t" l="l"/>
            <a:pathLst>
              <a:path h="7828566" w="7629294">
                <a:moveTo>
                  <a:pt x="0" y="0"/>
                </a:moveTo>
                <a:lnTo>
                  <a:pt x="7629293" y="0"/>
                </a:lnTo>
                <a:lnTo>
                  <a:pt x="7629293" y="7828566"/>
                </a:lnTo>
                <a:lnTo>
                  <a:pt x="0" y="78285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15228618" y="4882449"/>
            <a:ext cx="7616557" cy="7815497"/>
          </a:xfrm>
          <a:custGeom>
            <a:avLst/>
            <a:gdLst/>
            <a:ahLst/>
            <a:cxnLst/>
            <a:rect r="r" b="b" t="t" l="l"/>
            <a:pathLst>
              <a:path h="7815497" w="7616557">
                <a:moveTo>
                  <a:pt x="0" y="0"/>
                </a:moveTo>
                <a:lnTo>
                  <a:pt x="7616557" y="0"/>
                </a:lnTo>
                <a:lnTo>
                  <a:pt x="7616557" y="7815497"/>
                </a:lnTo>
                <a:lnTo>
                  <a:pt x="0" y="78154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136886" y="1066948"/>
            <a:ext cx="7631001" cy="7631001"/>
          </a:xfrm>
          <a:custGeom>
            <a:avLst/>
            <a:gdLst/>
            <a:ahLst/>
            <a:cxnLst/>
            <a:rect r="r" b="b" t="t" l="l"/>
            <a:pathLst>
              <a:path h="7631001" w="7631001">
                <a:moveTo>
                  <a:pt x="0" y="0"/>
                </a:moveTo>
                <a:lnTo>
                  <a:pt x="7631001" y="0"/>
                </a:lnTo>
                <a:lnTo>
                  <a:pt x="7631001" y="7631001"/>
                </a:lnTo>
                <a:lnTo>
                  <a:pt x="0" y="7631001"/>
                </a:lnTo>
                <a:lnTo>
                  <a:pt x="0" y="0"/>
                </a:lnTo>
                <a:close/>
              </a:path>
            </a:pathLst>
          </a:custGeom>
          <a:blipFill>
            <a:blip r:embed="rId5"/>
            <a:stretch>
              <a:fillRect l="0" t="0" r="0" b="0"/>
            </a:stretch>
          </a:blipFill>
        </p:spPr>
      </p:sp>
      <p:sp>
        <p:nvSpPr>
          <p:cNvPr name="TextBox 5" id="5"/>
          <p:cNvSpPr txBox="true"/>
          <p:nvPr/>
        </p:nvSpPr>
        <p:spPr>
          <a:xfrm rot="0">
            <a:off x="767319" y="353204"/>
            <a:ext cx="9369566" cy="1628809"/>
          </a:xfrm>
          <a:prstGeom prst="rect">
            <a:avLst/>
          </a:prstGeom>
        </p:spPr>
        <p:txBody>
          <a:bodyPr anchor="t" rtlCol="false" tIns="0" lIns="0" bIns="0" rIns="0">
            <a:spAutoFit/>
          </a:bodyPr>
          <a:lstStyle/>
          <a:p>
            <a:pPr algn="l">
              <a:lnSpc>
                <a:spcPts val="13222"/>
              </a:lnSpc>
            </a:pPr>
            <a:r>
              <a:rPr lang="en-US" sz="9581" spc="939">
                <a:solidFill>
                  <a:srgbClr val="231F20"/>
                </a:solidFill>
                <a:latin typeface="Oswald Bold"/>
              </a:rPr>
              <a:t>INTRODUCTION</a:t>
            </a:r>
          </a:p>
        </p:txBody>
      </p:sp>
      <p:sp>
        <p:nvSpPr>
          <p:cNvPr name="TextBox 6" id="6"/>
          <p:cNvSpPr txBox="true"/>
          <p:nvPr/>
        </p:nvSpPr>
        <p:spPr>
          <a:xfrm rot="0">
            <a:off x="767319" y="1991921"/>
            <a:ext cx="8846805" cy="2890528"/>
          </a:xfrm>
          <a:prstGeom prst="rect">
            <a:avLst/>
          </a:prstGeom>
        </p:spPr>
        <p:txBody>
          <a:bodyPr anchor="t" rtlCol="false" tIns="0" lIns="0" bIns="0" rIns="0">
            <a:spAutoFit/>
          </a:bodyPr>
          <a:lstStyle/>
          <a:p>
            <a:pPr algn="l">
              <a:lnSpc>
                <a:spcPts val="3311"/>
              </a:lnSpc>
            </a:pPr>
            <a:r>
              <a:rPr lang="en-US" sz="2400" spc="235">
                <a:solidFill>
                  <a:srgbClr val="231F20"/>
                </a:solidFill>
                <a:latin typeface="DM Sans Semi-Bold"/>
              </a:rPr>
              <a:t>Introduction to Smart Vehicle Surveillance:</a:t>
            </a:r>
          </a:p>
          <a:p>
            <a:pPr algn="l" marL="518160" indent="-259080" lvl="1">
              <a:lnSpc>
                <a:spcPts val="3311"/>
              </a:lnSpc>
              <a:buFont typeface="Arial"/>
              <a:buChar char="•"/>
            </a:pPr>
            <a:r>
              <a:rPr lang="en-US" sz="2400" spc="235">
                <a:solidFill>
                  <a:srgbClr val="231F20"/>
                </a:solidFill>
                <a:latin typeface="DM Sans"/>
              </a:rPr>
              <a:t>With increasing concerns about security in transportation systems, the integration of advanced technologies like YOLO and DeepSORT offers a promising solution for real-time vehicle monitoring and surveillance.</a:t>
            </a:r>
          </a:p>
          <a:p>
            <a:pPr algn="l" marL="0" indent="0" lvl="0">
              <a:lnSpc>
                <a:spcPts val="3050"/>
              </a:lnSpc>
              <a:spcBef>
                <a:spcPct val="0"/>
              </a:spcBef>
            </a:pPr>
          </a:p>
        </p:txBody>
      </p:sp>
      <p:sp>
        <p:nvSpPr>
          <p:cNvPr name="TextBox 7" id="7"/>
          <p:cNvSpPr txBox="true"/>
          <p:nvPr/>
        </p:nvSpPr>
        <p:spPr>
          <a:xfrm rot="0">
            <a:off x="767319" y="4630469"/>
            <a:ext cx="8846805" cy="5293804"/>
          </a:xfrm>
          <a:prstGeom prst="rect">
            <a:avLst/>
          </a:prstGeom>
        </p:spPr>
        <p:txBody>
          <a:bodyPr anchor="t" rtlCol="false" tIns="0" lIns="0" bIns="0" rIns="0">
            <a:spAutoFit/>
          </a:bodyPr>
          <a:lstStyle/>
          <a:p>
            <a:pPr algn="l">
              <a:lnSpc>
                <a:spcPts val="3359"/>
              </a:lnSpc>
            </a:pPr>
            <a:r>
              <a:rPr lang="en-US" sz="2400">
                <a:solidFill>
                  <a:srgbClr val="231F20"/>
                </a:solidFill>
                <a:latin typeface="DM Sans Bold"/>
              </a:rPr>
              <a:t>Objective of the Research:</a:t>
            </a:r>
          </a:p>
          <a:p>
            <a:pPr algn="l">
              <a:lnSpc>
                <a:spcPts val="3359"/>
              </a:lnSpc>
            </a:pPr>
            <a:r>
              <a:rPr lang="en-US" sz="2400">
                <a:solidFill>
                  <a:srgbClr val="231F20"/>
                </a:solidFill>
                <a:latin typeface="DM Sans"/>
              </a:rPr>
              <a:t>       </a:t>
            </a:r>
            <a:r>
              <a:rPr lang="en-US" sz="2400">
                <a:solidFill>
                  <a:srgbClr val="231F20"/>
                </a:solidFill>
                <a:latin typeface="DM Sans Semi-Bold"/>
              </a:rPr>
              <a:t>Primary Goal:</a:t>
            </a:r>
          </a:p>
          <a:p>
            <a:pPr algn="l" marL="518160" indent="-259080" lvl="1">
              <a:lnSpc>
                <a:spcPts val="3359"/>
              </a:lnSpc>
              <a:buFont typeface="Arial"/>
              <a:buChar char="•"/>
            </a:pPr>
            <a:r>
              <a:rPr lang="en-US" sz="2400">
                <a:solidFill>
                  <a:srgbClr val="231F20"/>
                </a:solidFill>
                <a:latin typeface="DM Sans"/>
              </a:rPr>
              <a:t>To identify the most effective object detector and tracker combination for vehicle counting.</a:t>
            </a:r>
          </a:p>
          <a:p>
            <a:pPr algn="l">
              <a:lnSpc>
                <a:spcPts val="3359"/>
              </a:lnSpc>
            </a:pPr>
            <a:r>
              <a:rPr lang="en-US" sz="2400">
                <a:solidFill>
                  <a:srgbClr val="231F20"/>
                </a:solidFill>
                <a:latin typeface="DM Sans"/>
              </a:rPr>
              <a:t>       </a:t>
            </a:r>
            <a:r>
              <a:rPr lang="en-US" sz="2400">
                <a:solidFill>
                  <a:srgbClr val="231F20"/>
                </a:solidFill>
                <a:latin typeface="DM Sans Semi-Bold"/>
              </a:rPr>
              <a:t>Secondary Goals:</a:t>
            </a:r>
          </a:p>
          <a:p>
            <a:pPr algn="l" marL="518160" indent="-259080" lvl="1">
              <a:lnSpc>
                <a:spcPts val="3359"/>
              </a:lnSpc>
              <a:buFont typeface="Arial"/>
              <a:buChar char="•"/>
            </a:pPr>
            <a:r>
              <a:rPr lang="en-US" sz="2400">
                <a:solidFill>
                  <a:srgbClr val="231F20"/>
                </a:solidFill>
                <a:latin typeface="DM Sans"/>
              </a:rPr>
              <a:t>To evaluate performance under various environmental conditions (daylight, nighttime, rain).</a:t>
            </a:r>
          </a:p>
          <a:p>
            <a:pPr algn="l" marL="518160" indent="-259080" lvl="1">
              <a:lnSpc>
                <a:spcPts val="3359"/>
              </a:lnSpc>
              <a:buFont typeface="Arial"/>
              <a:buChar char="•"/>
            </a:pPr>
            <a:r>
              <a:rPr lang="en-US" sz="2400">
                <a:solidFill>
                  <a:srgbClr val="231F20"/>
                </a:solidFill>
                <a:latin typeface="DM Sans"/>
              </a:rPr>
              <a:t>To benchmark results against ground truth data obtained from manual vehicle counts.</a:t>
            </a:r>
          </a:p>
          <a:p>
            <a:pPr algn="l" marL="518160" indent="-259080" lvl="1">
              <a:lnSpc>
                <a:spcPts val="3359"/>
              </a:lnSpc>
              <a:buFont typeface="Arial"/>
              <a:buChar char="•"/>
            </a:pPr>
            <a:r>
              <a:rPr lang="en-US" sz="2400">
                <a:solidFill>
                  <a:srgbClr val="231F20"/>
                </a:solidFill>
                <a:latin typeface="DM Sans"/>
              </a:rPr>
              <a:t>To enhance the accuracy and reliability of vehicle surveillance systems through advanced algorithms.</a:t>
            </a:r>
          </a:p>
          <a:p>
            <a:pPr algn="l">
              <a:lnSpc>
                <a:spcPts val="3359"/>
              </a:lnSpc>
            </a:pPr>
          </a:p>
          <a:p>
            <a:pPr algn="ctr">
              <a:lnSpc>
                <a:spcPts val="212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13933373" y="-3541294"/>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9212734" y="3659653"/>
            <a:ext cx="8846805" cy="6378638"/>
          </a:xfrm>
          <a:prstGeom prst="rect">
            <a:avLst/>
          </a:prstGeom>
        </p:spPr>
        <p:txBody>
          <a:bodyPr anchor="t" rtlCol="false" tIns="0" lIns="0" bIns="0" rIns="0">
            <a:spAutoFit/>
          </a:bodyPr>
          <a:lstStyle/>
          <a:p>
            <a:pPr algn="l">
              <a:lnSpc>
                <a:spcPts val="3472"/>
              </a:lnSpc>
            </a:pPr>
            <a:r>
              <a:rPr lang="en-US" sz="2480">
                <a:solidFill>
                  <a:srgbClr val="231F20"/>
                </a:solidFill>
                <a:latin typeface="DM Sans Bold"/>
              </a:rPr>
              <a:t>Object Tracking Methods:</a:t>
            </a:r>
          </a:p>
          <a:p>
            <a:pPr algn="l">
              <a:lnSpc>
                <a:spcPts val="3472"/>
              </a:lnSpc>
            </a:pPr>
          </a:p>
          <a:p>
            <a:pPr algn="l" marL="535433" indent="-267716" lvl="1">
              <a:lnSpc>
                <a:spcPts val="3472"/>
              </a:lnSpc>
              <a:buFont typeface="Arial"/>
              <a:buChar char="•"/>
            </a:pPr>
            <a:r>
              <a:rPr lang="en-US" sz="2480">
                <a:solidFill>
                  <a:srgbClr val="231F20"/>
                </a:solidFill>
                <a:latin typeface="DM Sans Bold"/>
              </a:rPr>
              <a:t>Definition: </a:t>
            </a:r>
            <a:r>
              <a:rPr lang="en-US" sz="2480">
                <a:solidFill>
                  <a:srgbClr val="231F20"/>
                </a:solidFill>
                <a:latin typeface="DM Sans"/>
              </a:rPr>
              <a:t>Techniques used to monitor the movement of objects across consecutive frames in a video.</a:t>
            </a:r>
          </a:p>
          <a:p>
            <a:pPr algn="l">
              <a:lnSpc>
                <a:spcPts val="3472"/>
              </a:lnSpc>
            </a:pPr>
          </a:p>
          <a:p>
            <a:pPr algn="l" marL="535433" indent="-267716" lvl="1">
              <a:lnSpc>
                <a:spcPts val="3472"/>
              </a:lnSpc>
              <a:buFont typeface="Arial"/>
              <a:buChar char="•"/>
            </a:pPr>
            <a:r>
              <a:rPr lang="en-US" sz="2480">
                <a:solidFill>
                  <a:srgbClr val="231F20"/>
                </a:solidFill>
                <a:latin typeface="DM Sans Bold"/>
              </a:rPr>
              <a:t>DeepSORT (Simple Online and Realtime Tracking):</a:t>
            </a:r>
          </a:p>
          <a:p>
            <a:pPr algn="l" marL="1070865" indent="-356955" lvl="2">
              <a:lnSpc>
                <a:spcPts val="3472"/>
              </a:lnSpc>
              <a:buFont typeface="Arial"/>
              <a:buChar char="⚬"/>
            </a:pPr>
            <a:r>
              <a:rPr lang="en-US" sz="2480">
                <a:solidFill>
                  <a:srgbClr val="231F20"/>
                </a:solidFill>
                <a:latin typeface="DM Sans"/>
              </a:rPr>
              <a:t>Combines deep learning with a SORT tracker.</a:t>
            </a:r>
          </a:p>
          <a:p>
            <a:pPr algn="l" marL="1070865" indent="-356955" lvl="2">
              <a:lnSpc>
                <a:spcPts val="3472"/>
              </a:lnSpc>
              <a:buFont typeface="Arial"/>
              <a:buChar char="⚬"/>
            </a:pPr>
            <a:r>
              <a:rPr lang="en-US" sz="2480">
                <a:solidFill>
                  <a:srgbClr val="231F20"/>
                </a:solidFill>
                <a:latin typeface="DM Sans"/>
              </a:rPr>
              <a:t>Accurate and reliable tracking of multiple objects.</a:t>
            </a:r>
          </a:p>
          <a:p>
            <a:pPr algn="l">
              <a:lnSpc>
                <a:spcPts val="3472"/>
              </a:lnSpc>
            </a:pPr>
          </a:p>
          <a:p>
            <a:pPr algn="l" marL="535433" indent="-267716" lvl="1">
              <a:lnSpc>
                <a:spcPts val="3472"/>
              </a:lnSpc>
              <a:buFont typeface="Arial"/>
              <a:buChar char="•"/>
            </a:pPr>
            <a:r>
              <a:rPr lang="en-US" sz="2480">
                <a:solidFill>
                  <a:srgbClr val="231F20"/>
                </a:solidFill>
                <a:latin typeface="DM Sans Bold"/>
              </a:rPr>
              <a:t>RNN (Recurrent Neural Networks):</a:t>
            </a:r>
          </a:p>
          <a:p>
            <a:pPr algn="l" marL="1070865" indent="-356955" lvl="2">
              <a:lnSpc>
                <a:spcPts val="3472"/>
              </a:lnSpc>
              <a:buFont typeface="Arial"/>
              <a:buChar char="⚬"/>
            </a:pPr>
            <a:r>
              <a:rPr lang="en-US" sz="2480">
                <a:solidFill>
                  <a:srgbClr val="231F20"/>
                </a:solidFill>
                <a:latin typeface="DM Sans"/>
              </a:rPr>
              <a:t>Utilizes sequential data for tracking.</a:t>
            </a:r>
          </a:p>
          <a:p>
            <a:pPr algn="l" marL="1070865" indent="-356955" lvl="2">
              <a:lnSpc>
                <a:spcPts val="3472"/>
              </a:lnSpc>
              <a:buFont typeface="Arial"/>
              <a:buChar char="⚬"/>
            </a:pPr>
            <a:r>
              <a:rPr lang="en-US" sz="2480">
                <a:solidFill>
                  <a:srgbClr val="231F20"/>
                </a:solidFill>
                <a:latin typeface="DM Sans"/>
              </a:rPr>
              <a:t>Effective in predicting future positions of moving objects.</a:t>
            </a:r>
          </a:p>
          <a:p>
            <a:pPr algn="l">
              <a:lnSpc>
                <a:spcPts val="3359"/>
              </a:lnSpc>
            </a:pPr>
          </a:p>
          <a:p>
            <a:pPr algn="ctr">
              <a:lnSpc>
                <a:spcPts val="2121"/>
              </a:lnSpc>
            </a:pPr>
          </a:p>
        </p:txBody>
      </p:sp>
      <p:sp>
        <p:nvSpPr>
          <p:cNvPr name="TextBox 5" id="5"/>
          <p:cNvSpPr txBox="true"/>
          <p:nvPr/>
        </p:nvSpPr>
        <p:spPr>
          <a:xfrm rot="0">
            <a:off x="365928" y="195004"/>
            <a:ext cx="9369566" cy="1628809"/>
          </a:xfrm>
          <a:prstGeom prst="rect">
            <a:avLst/>
          </a:prstGeom>
        </p:spPr>
        <p:txBody>
          <a:bodyPr anchor="t" rtlCol="false" tIns="0" lIns="0" bIns="0" rIns="0">
            <a:spAutoFit/>
          </a:bodyPr>
          <a:lstStyle/>
          <a:p>
            <a:pPr algn="l">
              <a:lnSpc>
                <a:spcPts val="13222"/>
              </a:lnSpc>
            </a:pPr>
            <a:r>
              <a:rPr lang="en-US" sz="9581" spc="939">
                <a:solidFill>
                  <a:srgbClr val="231F20"/>
                </a:solidFill>
                <a:latin typeface="Oswald Bold"/>
              </a:rPr>
              <a:t>INTRODUCTION</a:t>
            </a:r>
          </a:p>
        </p:txBody>
      </p:sp>
      <p:sp>
        <p:nvSpPr>
          <p:cNvPr name="TextBox 6" id="6"/>
          <p:cNvSpPr txBox="true"/>
          <p:nvPr/>
        </p:nvSpPr>
        <p:spPr>
          <a:xfrm rot="0">
            <a:off x="365928" y="2512280"/>
            <a:ext cx="8846805" cy="7273988"/>
          </a:xfrm>
          <a:prstGeom prst="rect">
            <a:avLst/>
          </a:prstGeom>
        </p:spPr>
        <p:txBody>
          <a:bodyPr anchor="t" rtlCol="false" tIns="0" lIns="0" bIns="0" rIns="0">
            <a:spAutoFit/>
          </a:bodyPr>
          <a:lstStyle/>
          <a:p>
            <a:pPr algn="l">
              <a:lnSpc>
                <a:spcPts val="3472"/>
              </a:lnSpc>
            </a:pPr>
            <a:r>
              <a:rPr lang="en-US" sz="2480" spc="243">
                <a:solidFill>
                  <a:srgbClr val="231F20"/>
                </a:solidFill>
                <a:latin typeface="DM Sans Bold"/>
              </a:rPr>
              <a:t>Object Detection Methods:</a:t>
            </a:r>
          </a:p>
          <a:p>
            <a:pPr algn="l">
              <a:lnSpc>
                <a:spcPts val="3472"/>
              </a:lnSpc>
            </a:pPr>
          </a:p>
          <a:p>
            <a:pPr algn="l" marL="535433" indent="-267716" lvl="1">
              <a:lnSpc>
                <a:spcPts val="3472"/>
              </a:lnSpc>
              <a:buFont typeface="Arial"/>
              <a:buChar char="•"/>
            </a:pPr>
            <a:r>
              <a:rPr lang="en-US" sz="2480">
                <a:solidFill>
                  <a:srgbClr val="231F20"/>
                </a:solidFill>
                <a:latin typeface="DM Sans Bold"/>
              </a:rPr>
              <a:t>Definition: </a:t>
            </a:r>
            <a:r>
              <a:rPr lang="en-US" sz="2480">
                <a:solidFill>
                  <a:srgbClr val="231F20"/>
                </a:solidFill>
                <a:latin typeface="DM Sans"/>
              </a:rPr>
              <a:t>Techniques used to identify and locate objects within an image or video frame</a:t>
            </a:r>
          </a:p>
          <a:p>
            <a:pPr algn="l">
              <a:lnSpc>
                <a:spcPts val="3472"/>
              </a:lnSpc>
            </a:pPr>
          </a:p>
          <a:p>
            <a:pPr algn="l" marL="535433" indent="-267716" lvl="1">
              <a:lnSpc>
                <a:spcPts val="3472"/>
              </a:lnSpc>
              <a:buFont typeface="Arial"/>
              <a:buChar char="•"/>
            </a:pPr>
            <a:r>
              <a:rPr lang="en-US" sz="2480">
                <a:solidFill>
                  <a:srgbClr val="231F20"/>
                </a:solidFill>
                <a:latin typeface="DM Sans Bold"/>
              </a:rPr>
              <a:t>Y</a:t>
            </a:r>
            <a:r>
              <a:rPr lang="en-US" sz="2480">
                <a:solidFill>
                  <a:srgbClr val="231F20"/>
                </a:solidFill>
                <a:latin typeface="DM Sans Bold"/>
              </a:rPr>
              <a:t>OLO (You Only Look Once):</a:t>
            </a:r>
          </a:p>
          <a:p>
            <a:pPr algn="l" marL="1070865" indent="-356955" lvl="2">
              <a:lnSpc>
                <a:spcPts val="3472"/>
              </a:lnSpc>
              <a:buFont typeface="Arial"/>
              <a:buChar char="⚬"/>
            </a:pPr>
            <a:r>
              <a:rPr lang="en-US" sz="2480">
                <a:solidFill>
                  <a:srgbClr val="231F20"/>
                </a:solidFill>
                <a:latin typeface="DM Sans"/>
              </a:rPr>
              <a:t>Real-time object detection.</a:t>
            </a:r>
          </a:p>
          <a:p>
            <a:pPr algn="l" marL="1070865" indent="-356955" lvl="2">
              <a:lnSpc>
                <a:spcPts val="3472"/>
              </a:lnSpc>
              <a:buFont typeface="Arial"/>
              <a:buChar char="⚬"/>
            </a:pPr>
            <a:r>
              <a:rPr lang="en-US" sz="2480">
                <a:solidFill>
                  <a:srgbClr val="231F20"/>
                </a:solidFill>
                <a:latin typeface="DM Sans"/>
              </a:rPr>
              <a:t>High accuracy and speed.</a:t>
            </a:r>
          </a:p>
          <a:p>
            <a:pPr algn="l">
              <a:lnSpc>
                <a:spcPts val="3472"/>
              </a:lnSpc>
            </a:pPr>
          </a:p>
          <a:p>
            <a:pPr algn="l" marL="535433" indent="-267716" lvl="1">
              <a:lnSpc>
                <a:spcPts val="3472"/>
              </a:lnSpc>
              <a:buFont typeface="Arial"/>
              <a:buChar char="•"/>
            </a:pPr>
            <a:r>
              <a:rPr lang="en-US" sz="2480">
                <a:solidFill>
                  <a:srgbClr val="231F20"/>
                </a:solidFill>
                <a:latin typeface="DM Sans Bold"/>
              </a:rPr>
              <a:t>SSD (Single Shot MultiBox Detector):</a:t>
            </a:r>
          </a:p>
          <a:p>
            <a:pPr algn="l" marL="1070865" indent="-356955" lvl="2">
              <a:lnSpc>
                <a:spcPts val="3472"/>
              </a:lnSpc>
              <a:buFont typeface="Arial"/>
              <a:buChar char="⚬"/>
            </a:pPr>
            <a:r>
              <a:rPr lang="en-US" sz="2480">
                <a:solidFill>
                  <a:srgbClr val="231F20"/>
                </a:solidFill>
                <a:latin typeface="DM Sans"/>
              </a:rPr>
              <a:t>Dete</a:t>
            </a:r>
            <a:r>
              <a:rPr lang="en-US" sz="2480">
                <a:solidFill>
                  <a:srgbClr val="231F20"/>
                </a:solidFill>
                <a:latin typeface="DM Sans"/>
              </a:rPr>
              <a:t>cts objects in a single pass.</a:t>
            </a:r>
          </a:p>
          <a:p>
            <a:pPr algn="l" marL="1070865" indent="-356955" lvl="2">
              <a:lnSpc>
                <a:spcPts val="3472"/>
              </a:lnSpc>
              <a:buFont typeface="Arial"/>
              <a:buChar char="⚬"/>
            </a:pPr>
            <a:r>
              <a:rPr lang="en-US" sz="2480">
                <a:solidFill>
                  <a:srgbClr val="231F20"/>
                </a:solidFill>
                <a:latin typeface="DM Sans"/>
              </a:rPr>
              <a:t>Efficient for real-time applications.</a:t>
            </a:r>
          </a:p>
          <a:p>
            <a:pPr algn="l">
              <a:lnSpc>
                <a:spcPts val="3472"/>
              </a:lnSpc>
            </a:pPr>
          </a:p>
          <a:p>
            <a:pPr algn="l" marL="535433" indent="-267716" lvl="1">
              <a:lnSpc>
                <a:spcPts val="3472"/>
              </a:lnSpc>
              <a:buFont typeface="Arial"/>
              <a:buChar char="•"/>
            </a:pPr>
            <a:r>
              <a:rPr lang="en-US" sz="2480">
                <a:solidFill>
                  <a:srgbClr val="231F20"/>
                </a:solidFill>
                <a:latin typeface="DM Sans Bold"/>
              </a:rPr>
              <a:t>SU</a:t>
            </a:r>
            <a:r>
              <a:rPr lang="en-US" sz="2480">
                <a:solidFill>
                  <a:srgbClr val="231F20"/>
                </a:solidFill>
                <a:latin typeface="DM Sans Bold"/>
              </a:rPr>
              <a:t>RF (Speeded-Up Robust Features):</a:t>
            </a:r>
          </a:p>
          <a:p>
            <a:pPr algn="l" marL="1070865" indent="-356955" lvl="2">
              <a:lnSpc>
                <a:spcPts val="3472"/>
              </a:lnSpc>
              <a:buFont typeface="Arial"/>
              <a:buChar char="⚬"/>
            </a:pPr>
            <a:r>
              <a:rPr lang="en-US" sz="2480">
                <a:solidFill>
                  <a:srgbClr val="231F20"/>
                </a:solidFill>
                <a:latin typeface="DM Sans"/>
              </a:rPr>
              <a:t>Detects and describes local features in images.</a:t>
            </a:r>
          </a:p>
          <a:p>
            <a:pPr algn="l" marL="1070865" indent="-356955" lvl="2">
              <a:lnSpc>
                <a:spcPts val="3472"/>
              </a:lnSpc>
              <a:buFont typeface="Arial"/>
              <a:buChar char="⚬"/>
            </a:pPr>
            <a:r>
              <a:rPr lang="en-US" sz="2480">
                <a:solidFill>
                  <a:srgbClr val="231F20"/>
                </a:solidFill>
                <a:latin typeface="DM Sans"/>
              </a:rPr>
              <a:t>Robus</a:t>
            </a:r>
            <a:r>
              <a:rPr lang="en-US" sz="2480">
                <a:solidFill>
                  <a:srgbClr val="231F20"/>
                </a:solidFill>
                <a:latin typeface="DM Sans"/>
              </a:rPr>
              <a:t>t to changes in scale and rotation.</a:t>
            </a:r>
          </a:p>
          <a:p>
            <a:pPr algn="ctr">
              <a:lnSpc>
                <a:spcPts val="212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5429791" y="6632111"/>
            <a:ext cx="7673056" cy="7673056"/>
          </a:xfrm>
          <a:custGeom>
            <a:avLst/>
            <a:gdLst/>
            <a:ahLst/>
            <a:cxnLst/>
            <a:rect r="r" b="b" t="t" l="l"/>
            <a:pathLst>
              <a:path h="7673056" w="7673056">
                <a:moveTo>
                  <a:pt x="0" y="0"/>
                </a:moveTo>
                <a:lnTo>
                  <a:pt x="7673056" y="0"/>
                </a:lnTo>
                <a:lnTo>
                  <a:pt x="7673056" y="7673056"/>
                </a:lnTo>
                <a:lnTo>
                  <a:pt x="0" y="76730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024816" y="5501099"/>
            <a:ext cx="2238367" cy="2238367"/>
          </a:xfrm>
          <a:custGeom>
            <a:avLst/>
            <a:gdLst/>
            <a:ahLst/>
            <a:cxnLst/>
            <a:rect r="r" b="b" t="t" l="l"/>
            <a:pathLst>
              <a:path h="2238367" w="2238367">
                <a:moveTo>
                  <a:pt x="0" y="0"/>
                </a:moveTo>
                <a:lnTo>
                  <a:pt x="2238368" y="0"/>
                </a:lnTo>
                <a:lnTo>
                  <a:pt x="2238368" y="2238367"/>
                </a:lnTo>
                <a:lnTo>
                  <a:pt x="0" y="2238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663659" y="6071953"/>
            <a:ext cx="960682" cy="1052540"/>
          </a:xfrm>
          <a:custGeom>
            <a:avLst/>
            <a:gdLst/>
            <a:ahLst/>
            <a:cxnLst/>
            <a:rect r="r" b="b" t="t" l="l"/>
            <a:pathLst>
              <a:path h="1052540" w="960682">
                <a:moveTo>
                  <a:pt x="0" y="0"/>
                </a:moveTo>
                <a:lnTo>
                  <a:pt x="960682" y="0"/>
                </a:lnTo>
                <a:lnTo>
                  <a:pt x="960682" y="1052541"/>
                </a:lnTo>
                <a:lnTo>
                  <a:pt x="0" y="10525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1539534" y="7377531"/>
            <a:ext cx="2238367" cy="2238367"/>
          </a:xfrm>
          <a:custGeom>
            <a:avLst/>
            <a:gdLst/>
            <a:ahLst/>
            <a:cxnLst/>
            <a:rect r="r" b="b" t="t" l="l"/>
            <a:pathLst>
              <a:path h="2238367" w="2238367">
                <a:moveTo>
                  <a:pt x="0" y="0"/>
                </a:moveTo>
                <a:lnTo>
                  <a:pt x="2238367" y="0"/>
                </a:lnTo>
                <a:lnTo>
                  <a:pt x="2238367" y="2238368"/>
                </a:lnTo>
                <a:lnTo>
                  <a:pt x="0" y="22383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4510099" y="7377531"/>
            <a:ext cx="2238367" cy="2238367"/>
          </a:xfrm>
          <a:custGeom>
            <a:avLst/>
            <a:gdLst/>
            <a:ahLst/>
            <a:cxnLst/>
            <a:rect r="r" b="b" t="t" l="l"/>
            <a:pathLst>
              <a:path h="2238367" w="2238367">
                <a:moveTo>
                  <a:pt x="0" y="0"/>
                </a:moveTo>
                <a:lnTo>
                  <a:pt x="2238367" y="0"/>
                </a:lnTo>
                <a:lnTo>
                  <a:pt x="2238367" y="2238368"/>
                </a:lnTo>
                <a:lnTo>
                  <a:pt x="0" y="22383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994936" y="7891202"/>
            <a:ext cx="1268693" cy="1211025"/>
          </a:xfrm>
          <a:custGeom>
            <a:avLst/>
            <a:gdLst/>
            <a:ahLst/>
            <a:cxnLst/>
            <a:rect r="r" b="b" t="t" l="l"/>
            <a:pathLst>
              <a:path h="1211025" w="1268693">
                <a:moveTo>
                  <a:pt x="0" y="0"/>
                </a:moveTo>
                <a:lnTo>
                  <a:pt x="1268693" y="0"/>
                </a:lnTo>
                <a:lnTo>
                  <a:pt x="1268693" y="1211025"/>
                </a:lnTo>
                <a:lnTo>
                  <a:pt x="0" y="12110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2106315" y="7936159"/>
            <a:ext cx="1104804" cy="1121111"/>
          </a:xfrm>
          <a:custGeom>
            <a:avLst/>
            <a:gdLst/>
            <a:ahLst/>
            <a:cxnLst/>
            <a:rect r="r" b="b" t="t" l="l"/>
            <a:pathLst>
              <a:path h="1121111" w="1104804">
                <a:moveTo>
                  <a:pt x="0" y="0"/>
                </a:moveTo>
                <a:lnTo>
                  <a:pt x="1104805" y="0"/>
                </a:lnTo>
                <a:lnTo>
                  <a:pt x="1104805" y="1121111"/>
                </a:lnTo>
                <a:lnTo>
                  <a:pt x="0" y="11211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0" id="10"/>
          <p:cNvGrpSpPr/>
          <p:nvPr/>
        </p:nvGrpSpPr>
        <p:grpSpPr>
          <a:xfrm rot="0">
            <a:off x="1219034" y="2120330"/>
            <a:ext cx="3474003" cy="647719"/>
            <a:chOff x="0" y="0"/>
            <a:chExt cx="914964" cy="170593"/>
          </a:xfrm>
        </p:grpSpPr>
        <p:sp>
          <p:nvSpPr>
            <p:cNvPr name="Freeform 11" id="11"/>
            <p:cNvSpPr/>
            <p:nvPr/>
          </p:nvSpPr>
          <p:spPr>
            <a:xfrm flipH="false" flipV="false" rot="0">
              <a:off x="0" y="0"/>
              <a:ext cx="914964" cy="170593"/>
            </a:xfrm>
            <a:custGeom>
              <a:avLst/>
              <a:gdLst/>
              <a:ahLst/>
              <a:cxnLst/>
              <a:rect r="r" b="b" t="t" l="l"/>
              <a:pathLst>
                <a:path h="170593" w="914964">
                  <a:moveTo>
                    <a:pt x="0" y="0"/>
                  </a:moveTo>
                  <a:lnTo>
                    <a:pt x="914964" y="0"/>
                  </a:lnTo>
                  <a:lnTo>
                    <a:pt x="914964" y="170593"/>
                  </a:lnTo>
                  <a:lnTo>
                    <a:pt x="0" y="170593"/>
                  </a:lnTo>
                  <a:close/>
                </a:path>
              </a:pathLst>
            </a:custGeom>
            <a:solidFill>
              <a:srgbClr val="1A1A1A"/>
            </a:solidFill>
          </p:spPr>
        </p:sp>
        <p:sp>
          <p:nvSpPr>
            <p:cNvPr name="TextBox 12" id="12"/>
            <p:cNvSpPr txBox="true"/>
            <p:nvPr/>
          </p:nvSpPr>
          <p:spPr>
            <a:xfrm>
              <a:off x="0" y="-57150"/>
              <a:ext cx="914964" cy="227743"/>
            </a:xfrm>
            <a:prstGeom prst="rect">
              <a:avLst/>
            </a:prstGeom>
          </p:spPr>
          <p:txBody>
            <a:bodyPr anchor="ctr" rtlCol="false" tIns="50800" lIns="50800" bIns="50800" rIns="50800"/>
            <a:lstStyle/>
            <a:p>
              <a:pPr algn="ctr" marL="0" indent="0" lvl="0">
                <a:lnSpc>
                  <a:spcPts val="4114"/>
                </a:lnSpc>
                <a:spcBef>
                  <a:spcPct val="0"/>
                </a:spcBef>
              </a:pPr>
              <a:r>
                <a:rPr lang="en-US" sz="2981" spc="29">
                  <a:solidFill>
                    <a:srgbClr val="FFFFFF"/>
                  </a:solidFill>
                  <a:latin typeface="DM Sans Bold"/>
                </a:rPr>
                <a:t>VMS</a:t>
              </a:r>
            </a:p>
          </p:txBody>
        </p:sp>
      </p:grpSp>
      <p:sp>
        <p:nvSpPr>
          <p:cNvPr name="TextBox 13" id="13"/>
          <p:cNvSpPr txBox="true"/>
          <p:nvPr/>
        </p:nvSpPr>
        <p:spPr>
          <a:xfrm rot="0">
            <a:off x="2887170" y="39147"/>
            <a:ext cx="11552977" cy="1166783"/>
          </a:xfrm>
          <a:prstGeom prst="rect">
            <a:avLst/>
          </a:prstGeom>
        </p:spPr>
        <p:txBody>
          <a:bodyPr anchor="t" rtlCol="false" tIns="0" lIns="0" bIns="0" rIns="0">
            <a:spAutoFit/>
          </a:bodyPr>
          <a:lstStyle/>
          <a:p>
            <a:pPr algn="ctr">
              <a:lnSpc>
                <a:spcPts val="9587"/>
              </a:lnSpc>
            </a:pPr>
            <a:r>
              <a:rPr lang="en-US" sz="6947" spc="368">
                <a:solidFill>
                  <a:srgbClr val="231F20"/>
                </a:solidFill>
                <a:latin typeface="Oswald Bold"/>
              </a:rPr>
              <a:t>OVERVIEW</a:t>
            </a:r>
          </a:p>
        </p:txBody>
      </p:sp>
      <p:sp>
        <p:nvSpPr>
          <p:cNvPr name="TextBox 14" id="14"/>
          <p:cNvSpPr txBox="true"/>
          <p:nvPr/>
        </p:nvSpPr>
        <p:spPr>
          <a:xfrm rot="0">
            <a:off x="1206718" y="3168090"/>
            <a:ext cx="3360904" cy="5135642"/>
          </a:xfrm>
          <a:prstGeom prst="rect">
            <a:avLst/>
          </a:prstGeom>
        </p:spPr>
        <p:txBody>
          <a:bodyPr anchor="t" rtlCol="false" tIns="0" lIns="0" bIns="0" rIns="0">
            <a:spAutoFit/>
          </a:bodyPr>
          <a:lstStyle/>
          <a:p>
            <a:pPr algn="ctr" marL="0" indent="0" lvl="0">
              <a:lnSpc>
                <a:spcPts val="2774"/>
              </a:lnSpc>
              <a:spcBef>
                <a:spcPct val="0"/>
              </a:spcBef>
            </a:pPr>
            <a:r>
              <a:rPr lang="en-US" sz="2010" spc="197">
                <a:solidFill>
                  <a:srgbClr val="231F20"/>
                </a:solidFill>
                <a:latin typeface="DM Sans"/>
              </a:rPr>
              <a:t>A vehicle monitoring and surveillance system is a powerful tool for enhancing security and safety in various environments. The purpose of implementing such a system is to monitor and track vehicles in real-time, detect suspicious activities, and provide valuable data for investigation and analysis</a:t>
            </a:r>
          </a:p>
        </p:txBody>
      </p:sp>
      <p:grpSp>
        <p:nvGrpSpPr>
          <p:cNvPr name="Group 15" id="15"/>
          <p:cNvGrpSpPr/>
          <p:nvPr/>
        </p:nvGrpSpPr>
        <p:grpSpPr>
          <a:xfrm rot="0">
            <a:off x="6926657" y="2119184"/>
            <a:ext cx="3770902" cy="648866"/>
            <a:chOff x="0" y="0"/>
            <a:chExt cx="993159" cy="170895"/>
          </a:xfrm>
        </p:grpSpPr>
        <p:sp>
          <p:nvSpPr>
            <p:cNvPr name="Freeform 16" id="16"/>
            <p:cNvSpPr/>
            <p:nvPr/>
          </p:nvSpPr>
          <p:spPr>
            <a:xfrm flipH="false" flipV="false" rot="0">
              <a:off x="0" y="0"/>
              <a:ext cx="993159" cy="170895"/>
            </a:xfrm>
            <a:custGeom>
              <a:avLst/>
              <a:gdLst/>
              <a:ahLst/>
              <a:cxnLst/>
              <a:rect r="r" b="b" t="t" l="l"/>
              <a:pathLst>
                <a:path h="170895" w="993159">
                  <a:moveTo>
                    <a:pt x="0" y="0"/>
                  </a:moveTo>
                  <a:lnTo>
                    <a:pt x="993159" y="0"/>
                  </a:lnTo>
                  <a:lnTo>
                    <a:pt x="993159" y="170895"/>
                  </a:lnTo>
                  <a:lnTo>
                    <a:pt x="0" y="170895"/>
                  </a:lnTo>
                  <a:close/>
                </a:path>
              </a:pathLst>
            </a:custGeom>
            <a:solidFill>
              <a:srgbClr val="1A1A1A"/>
            </a:solidFill>
          </p:spPr>
        </p:sp>
        <p:sp>
          <p:nvSpPr>
            <p:cNvPr name="TextBox 17" id="17"/>
            <p:cNvSpPr txBox="true"/>
            <p:nvPr/>
          </p:nvSpPr>
          <p:spPr>
            <a:xfrm>
              <a:off x="0" y="-57150"/>
              <a:ext cx="993159" cy="228045"/>
            </a:xfrm>
            <a:prstGeom prst="rect">
              <a:avLst/>
            </a:prstGeom>
          </p:spPr>
          <p:txBody>
            <a:bodyPr anchor="ctr" rtlCol="false" tIns="50800" lIns="50800" bIns="50800" rIns="50800"/>
            <a:lstStyle/>
            <a:p>
              <a:pPr algn="ctr" marL="0" indent="0" lvl="0">
                <a:lnSpc>
                  <a:spcPts val="4114"/>
                </a:lnSpc>
                <a:spcBef>
                  <a:spcPct val="0"/>
                </a:spcBef>
              </a:pPr>
              <a:r>
                <a:rPr lang="en-US" sz="2981" spc="29">
                  <a:solidFill>
                    <a:srgbClr val="FFFFFF"/>
                  </a:solidFill>
                  <a:latin typeface="DM Sans Bold"/>
                </a:rPr>
                <a:t>YOLO</a:t>
              </a:r>
            </a:p>
          </p:txBody>
        </p:sp>
      </p:grpSp>
      <p:sp>
        <p:nvSpPr>
          <p:cNvPr name="TextBox 18" id="18"/>
          <p:cNvSpPr txBox="true"/>
          <p:nvPr/>
        </p:nvSpPr>
        <p:spPr>
          <a:xfrm rot="0">
            <a:off x="5851428" y="2943647"/>
            <a:ext cx="6254887" cy="2392442"/>
          </a:xfrm>
          <a:prstGeom prst="rect">
            <a:avLst/>
          </a:prstGeom>
        </p:spPr>
        <p:txBody>
          <a:bodyPr anchor="t" rtlCol="false" tIns="0" lIns="0" bIns="0" rIns="0">
            <a:spAutoFit/>
          </a:bodyPr>
          <a:lstStyle/>
          <a:p>
            <a:pPr algn="ctr" marL="0" indent="0" lvl="0">
              <a:lnSpc>
                <a:spcPts val="2774"/>
              </a:lnSpc>
              <a:spcBef>
                <a:spcPct val="0"/>
              </a:spcBef>
            </a:pPr>
            <a:r>
              <a:rPr lang="en-US" sz="2010" spc="197">
                <a:solidFill>
                  <a:srgbClr val="231F20"/>
                </a:solidFill>
                <a:latin typeface="DM Sans"/>
              </a:rPr>
              <a:t>YOLO is a real-time object detection system that processes images or video frames and predicts bounding boxes and class labels for multiple objects simultaneously.It can quickly detect and track vehicles, providing enhanced security and situational awareness.</a:t>
            </a:r>
          </a:p>
        </p:txBody>
      </p:sp>
      <p:grpSp>
        <p:nvGrpSpPr>
          <p:cNvPr name="Group 19" id="19"/>
          <p:cNvGrpSpPr/>
          <p:nvPr/>
        </p:nvGrpSpPr>
        <p:grpSpPr>
          <a:xfrm rot="0">
            <a:off x="13777901" y="2120330"/>
            <a:ext cx="3474003" cy="647719"/>
            <a:chOff x="0" y="0"/>
            <a:chExt cx="914964" cy="170593"/>
          </a:xfrm>
        </p:grpSpPr>
        <p:sp>
          <p:nvSpPr>
            <p:cNvPr name="Freeform 20" id="20"/>
            <p:cNvSpPr/>
            <p:nvPr/>
          </p:nvSpPr>
          <p:spPr>
            <a:xfrm flipH="false" flipV="false" rot="0">
              <a:off x="0" y="0"/>
              <a:ext cx="914964" cy="170593"/>
            </a:xfrm>
            <a:custGeom>
              <a:avLst/>
              <a:gdLst/>
              <a:ahLst/>
              <a:cxnLst/>
              <a:rect r="r" b="b" t="t" l="l"/>
              <a:pathLst>
                <a:path h="170593" w="914964">
                  <a:moveTo>
                    <a:pt x="0" y="0"/>
                  </a:moveTo>
                  <a:lnTo>
                    <a:pt x="914964" y="0"/>
                  </a:lnTo>
                  <a:lnTo>
                    <a:pt x="914964" y="170593"/>
                  </a:lnTo>
                  <a:lnTo>
                    <a:pt x="0" y="170593"/>
                  </a:lnTo>
                  <a:close/>
                </a:path>
              </a:pathLst>
            </a:custGeom>
            <a:solidFill>
              <a:srgbClr val="1A1A1A"/>
            </a:solidFill>
          </p:spPr>
        </p:sp>
        <p:sp>
          <p:nvSpPr>
            <p:cNvPr name="TextBox 21" id="21"/>
            <p:cNvSpPr txBox="true"/>
            <p:nvPr/>
          </p:nvSpPr>
          <p:spPr>
            <a:xfrm>
              <a:off x="0" y="-57150"/>
              <a:ext cx="914964" cy="227743"/>
            </a:xfrm>
            <a:prstGeom prst="rect">
              <a:avLst/>
            </a:prstGeom>
          </p:spPr>
          <p:txBody>
            <a:bodyPr anchor="ctr" rtlCol="false" tIns="50800" lIns="50800" bIns="50800" rIns="50800"/>
            <a:lstStyle/>
            <a:p>
              <a:pPr algn="ctr" marL="0" indent="0" lvl="0">
                <a:lnSpc>
                  <a:spcPts val="4114"/>
                </a:lnSpc>
                <a:spcBef>
                  <a:spcPct val="0"/>
                </a:spcBef>
              </a:pPr>
              <a:r>
                <a:rPr lang="en-US" sz="2981" spc="29">
                  <a:solidFill>
                    <a:srgbClr val="FFFFFF"/>
                  </a:solidFill>
                  <a:latin typeface="DM Sans Bold"/>
                </a:rPr>
                <a:t>DeepSORT</a:t>
              </a:r>
            </a:p>
          </p:txBody>
        </p:sp>
      </p:grpSp>
      <p:sp>
        <p:nvSpPr>
          <p:cNvPr name="TextBox 22" id="22"/>
          <p:cNvSpPr txBox="true"/>
          <p:nvPr/>
        </p:nvSpPr>
        <p:spPr>
          <a:xfrm rot="0">
            <a:off x="13777901" y="3168090"/>
            <a:ext cx="3918542" cy="6507242"/>
          </a:xfrm>
          <a:prstGeom prst="rect">
            <a:avLst/>
          </a:prstGeom>
        </p:spPr>
        <p:txBody>
          <a:bodyPr anchor="t" rtlCol="false" tIns="0" lIns="0" bIns="0" rIns="0">
            <a:spAutoFit/>
          </a:bodyPr>
          <a:lstStyle/>
          <a:p>
            <a:pPr algn="ctr">
              <a:lnSpc>
                <a:spcPts val="2774"/>
              </a:lnSpc>
            </a:pPr>
            <a:r>
              <a:rPr lang="en-US" sz="2010" spc="197">
                <a:solidFill>
                  <a:srgbClr val="231F20"/>
                </a:solidFill>
                <a:latin typeface="DM Sans"/>
              </a:rPr>
              <a:t>DeepSORT (Deep Learning for Object Tracking) is a state-of-the-art deep learning-based object tracking algorithm.</a:t>
            </a:r>
          </a:p>
          <a:p>
            <a:pPr algn="ctr">
              <a:lnSpc>
                <a:spcPts val="2774"/>
              </a:lnSpc>
            </a:pPr>
            <a:r>
              <a:rPr lang="en-US" sz="2010" spc="197">
                <a:solidFill>
                  <a:srgbClr val="231F20"/>
                </a:solidFill>
                <a:latin typeface="DM Sans"/>
              </a:rPr>
              <a:t>DeepSORT utilizes a combination of deep learning and tracking techniques to accurately track objects in a video stream.</a:t>
            </a:r>
          </a:p>
          <a:p>
            <a:pPr algn="ctr">
              <a:lnSpc>
                <a:spcPts val="2774"/>
              </a:lnSpc>
            </a:pPr>
            <a:r>
              <a:rPr lang="en-US" sz="2010" spc="197">
                <a:solidFill>
                  <a:srgbClr val="231F20"/>
                </a:solidFill>
                <a:latin typeface="DM Sans"/>
              </a:rPr>
              <a:t>DeepSORT plays a crucial role in the vehicle monitoring and surveillance system by providing real-time and accurate tracking of vehicles.</a:t>
            </a:r>
          </a:p>
          <a:p>
            <a:pPr algn="ctr" marL="0" indent="0" lvl="0">
              <a:lnSpc>
                <a:spcPts val="2774"/>
              </a:lnSpc>
              <a:spcBef>
                <a:spcPct val="0"/>
              </a:spcBef>
            </a:pPr>
          </a:p>
        </p:txBody>
      </p:sp>
      <p:sp>
        <p:nvSpPr>
          <p:cNvPr name="Freeform 23" id="23"/>
          <p:cNvSpPr/>
          <p:nvPr/>
        </p:nvSpPr>
        <p:spPr>
          <a:xfrm flipH="false" flipV="false" rot="0">
            <a:off x="14479722" y="-4833750"/>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false" flipV="false" rot="-4176364">
            <a:off x="-4105129" y="6530238"/>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0">
            <a:off x="5429791" y="6632111"/>
            <a:ext cx="7673056" cy="7673056"/>
          </a:xfrm>
          <a:custGeom>
            <a:avLst/>
            <a:gdLst/>
            <a:ahLst/>
            <a:cxnLst/>
            <a:rect r="r" b="b" t="t" l="l"/>
            <a:pathLst>
              <a:path h="7673056" w="7673056">
                <a:moveTo>
                  <a:pt x="0" y="0"/>
                </a:moveTo>
                <a:lnTo>
                  <a:pt x="7673056" y="0"/>
                </a:lnTo>
                <a:lnTo>
                  <a:pt x="7673056" y="7673056"/>
                </a:lnTo>
                <a:lnTo>
                  <a:pt x="0" y="76730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024816" y="5501099"/>
            <a:ext cx="2238367" cy="2238367"/>
          </a:xfrm>
          <a:custGeom>
            <a:avLst/>
            <a:gdLst/>
            <a:ahLst/>
            <a:cxnLst/>
            <a:rect r="r" b="b" t="t" l="l"/>
            <a:pathLst>
              <a:path h="2238367" w="2238367">
                <a:moveTo>
                  <a:pt x="0" y="0"/>
                </a:moveTo>
                <a:lnTo>
                  <a:pt x="2238368" y="0"/>
                </a:lnTo>
                <a:lnTo>
                  <a:pt x="2238368" y="2238367"/>
                </a:lnTo>
                <a:lnTo>
                  <a:pt x="0" y="22383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8663659" y="6071953"/>
            <a:ext cx="960682" cy="1052540"/>
          </a:xfrm>
          <a:custGeom>
            <a:avLst/>
            <a:gdLst/>
            <a:ahLst/>
            <a:cxnLst/>
            <a:rect r="r" b="b" t="t" l="l"/>
            <a:pathLst>
              <a:path h="1052540" w="960682">
                <a:moveTo>
                  <a:pt x="0" y="0"/>
                </a:moveTo>
                <a:lnTo>
                  <a:pt x="960682" y="0"/>
                </a:lnTo>
                <a:lnTo>
                  <a:pt x="960682" y="1052541"/>
                </a:lnTo>
                <a:lnTo>
                  <a:pt x="0" y="10525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1539534" y="7377531"/>
            <a:ext cx="2238367" cy="2238367"/>
          </a:xfrm>
          <a:custGeom>
            <a:avLst/>
            <a:gdLst/>
            <a:ahLst/>
            <a:cxnLst/>
            <a:rect r="r" b="b" t="t" l="l"/>
            <a:pathLst>
              <a:path h="2238367" w="2238367">
                <a:moveTo>
                  <a:pt x="0" y="0"/>
                </a:moveTo>
                <a:lnTo>
                  <a:pt x="2238367" y="0"/>
                </a:lnTo>
                <a:lnTo>
                  <a:pt x="2238367" y="2238368"/>
                </a:lnTo>
                <a:lnTo>
                  <a:pt x="0" y="22383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4510099" y="7377531"/>
            <a:ext cx="2238367" cy="2238367"/>
          </a:xfrm>
          <a:custGeom>
            <a:avLst/>
            <a:gdLst/>
            <a:ahLst/>
            <a:cxnLst/>
            <a:rect r="r" b="b" t="t" l="l"/>
            <a:pathLst>
              <a:path h="2238367" w="2238367">
                <a:moveTo>
                  <a:pt x="0" y="0"/>
                </a:moveTo>
                <a:lnTo>
                  <a:pt x="2238367" y="0"/>
                </a:lnTo>
                <a:lnTo>
                  <a:pt x="2238367" y="2238368"/>
                </a:lnTo>
                <a:lnTo>
                  <a:pt x="0" y="22383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994936" y="7891202"/>
            <a:ext cx="1268693" cy="1211025"/>
          </a:xfrm>
          <a:custGeom>
            <a:avLst/>
            <a:gdLst/>
            <a:ahLst/>
            <a:cxnLst/>
            <a:rect r="r" b="b" t="t" l="l"/>
            <a:pathLst>
              <a:path h="1211025" w="1268693">
                <a:moveTo>
                  <a:pt x="0" y="0"/>
                </a:moveTo>
                <a:lnTo>
                  <a:pt x="1268693" y="0"/>
                </a:lnTo>
                <a:lnTo>
                  <a:pt x="1268693" y="1211025"/>
                </a:lnTo>
                <a:lnTo>
                  <a:pt x="0" y="12110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2106315" y="7936159"/>
            <a:ext cx="1104804" cy="1121111"/>
          </a:xfrm>
          <a:custGeom>
            <a:avLst/>
            <a:gdLst/>
            <a:ahLst/>
            <a:cxnLst/>
            <a:rect r="r" b="b" t="t" l="l"/>
            <a:pathLst>
              <a:path h="1121111" w="1104804">
                <a:moveTo>
                  <a:pt x="0" y="0"/>
                </a:moveTo>
                <a:lnTo>
                  <a:pt x="1104805" y="0"/>
                </a:lnTo>
                <a:lnTo>
                  <a:pt x="1104805" y="1121111"/>
                </a:lnTo>
                <a:lnTo>
                  <a:pt x="0" y="11211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0" id="10"/>
          <p:cNvGrpSpPr/>
          <p:nvPr/>
        </p:nvGrpSpPr>
        <p:grpSpPr>
          <a:xfrm rot="0">
            <a:off x="1346844" y="679688"/>
            <a:ext cx="3474003" cy="647719"/>
            <a:chOff x="0" y="0"/>
            <a:chExt cx="914964" cy="170593"/>
          </a:xfrm>
        </p:grpSpPr>
        <p:sp>
          <p:nvSpPr>
            <p:cNvPr name="Freeform 11" id="11"/>
            <p:cNvSpPr/>
            <p:nvPr/>
          </p:nvSpPr>
          <p:spPr>
            <a:xfrm flipH="false" flipV="false" rot="0">
              <a:off x="0" y="0"/>
              <a:ext cx="914964" cy="170593"/>
            </a:xfrm>
            <a:custGeom>
              <a:avLst/>
              <a:gdLst/>
              <a:ahLst/>
              <a:cxnLst/>
              <a:rect r="r" b="b" t="t" l="l"/>
              <a:pathLst>
                <a:path h="170593" w="914964">
                  <a:moveTo>
                    <a:pt x="0" y="0"/>
                  </a:moveTo>
                  <a:lnTo>
                    <a:pt x="914964" y="0"/>
                  </a:lnTo>
                  <a:lnTo>
                    <a:pt x="914964" y="170593"/>
                  </a:lnTo>
                  <a:lnTo>
                    <a:pt x="0" y="170593"/>
                  </a:lnTo>
                  <a:close/>
                </a:path>
              </a:pathLst>
            </a:custGeom>
            <a:solidFill>
              <a:srgbClr val="1A1A1A"/>
            </a:solidFill>
          </p:spPr>
        </p:sp>
        <p:sp>
          <p:nvSpPr>
            <p:cNvPr name="TextBox 12" id="12"/>
            <p:cNvSpPr txBox="true"/>
            <p:nvPr/>
          </p:nvSpPr>
          <p:spPr>
            <a:xfrm>
              <a:off x="0" y="-57150"/>
              <a:ext cx="914964" cy="227743"/>
            </a:xfrm>
            <a:prstGeom prst="rect">
              <a:avLst/>
            </a:prstGeom>
          </p:spPr>
          <p:txBody>
            <a:bodyPr anchor="ctr" rtlCol="false" tIns="50800" lIns="50800" bIns="50800" rIns="50800"/>
            <a:lstStyle/>
            <a:p>
              <a:pPr algn="ctr" marL="0" indent="0" lvl="0">
                <a:lnSpc>
                  <a:spcPts val="4114"/>
                </a:lnSpc>
                <a:spcBef>
                  <a:spcPct val="0"/>
                </a:spcBef>
              </a:pPr>
              <a:r>
                <a:rPr lang="en-US" sz="2981" spc="29">
                  <a:solidFill>
                    <a:srgbClr val="FFFFFF"/>
                  </a:solidFill>
                  <a:latin typeface="DM Sans Bold"/>
                </a:rPr>
                <a:t>SSD</a:t>
              </a:r>
            </a:p>
          </p:txBody>
        </p:sp>
      </p:grpSp>
      <p:sp>
        <p:nvSpPr>
          <p:cNvPr name="TextBox 13" id="13"/>
          <p:cNvSpPr txBox="true"/>
          <p:nvPr/>
        </p:nvSpPr>
        <p:spPr>
          <a:xfrm rot="0">
            <a:off x="2887170" y="39147"/>
            <a:ext cx="11552977" cy="1166783"/>
          </a:xfrm>
          <a:prstGeom prst="rect">
            <a:avLst/>
          </a:prstGeom>
        </p:spPr>
        <p:txBody>
          <a:bodyPr anchor="t" rtlCol="false" tIns="0" lIns="0" bIns="0" rIns="0">
            <a:spAutoFit/>
          </a:bodyPr>
          <a:lstStyle/>
          <a:p>
            <a:pPr algn="ctr">
              <a:lnSpc>
                <a:spcPts val="9587"/>
              </a:lnSpc>
            </a:pPr>
            <a:r>
              <a:rPr lang="en-US" sz="6947" spc="368">
                <a:solidFill>
                  <a:srgbClr val="231F20"/>
                </a:solidFill>
                <a:latin typeface="Oswald Bold"/>
              </a:rPr>
              <a:t>OVERVIEW</a:t>
            </a:r>
          </a:p>
        </p:txBody>
      </p:sp>
      <p:sp>
        <p:nvSpPr>
          <p:cNvPr name="TextBox 14" id="14"/>
          <p:cNvSpPr txBox="true"/>
          <p:nvPr/>
        </p:nvSpPr>
        <p:spPr>
          <a:xfrm rot="0">
            <a:off x="737899" y="1439603"/>
            <a:ext cx="4691892" cy="5478542"/>
          </a:xfrm>
          <a:prstGeom prst="rect">
            <a:avLst/>
          </a:prstGeom>
        </p:spPr>
        <p:txBody>
          <a:bodyPr anchor="t" rtlCol="false" tIns="0" lIns="0" bIns="0" rIns="0">
            <a:spAutoFit/>
          </a:bodyPr>
          <a:lstStyle/>
          <a:p>
            <a:pPr algn="ctr" marL="0" indent="0" lvl="0">
              <a:lnSpc>
                <a:spcPts val="2774"/>
              </a:lnSpc>
              <a:spcBef>
                <a:spcPct val="0"/>
              </a:spcBef>
            </a:pPr>
            <a:r>
              <a:rPr lang="en-US" sz="2010" spc="197">
                <a:solidFill>
                  <a:srgbClr val="231F20"/>
                </a:solidFill>
                <a:latin typeface="DM Sans"/>
              </a:rPr>
              <a:t>The Single Shot MultiBox Detector (SSD) is a state-of-the-art object detection algorithm optimized for real-time performance. It functions by predicting object classes and bounding boxes in one step, leveraging multiple feature maps at different resolutions. SSD's architecture integrates a base convolutional neural network with extra detection layers, achieving both high accuracy and speed. This design enables SSD to efficiently detect objects of various sizes.</a:t>
            </a:r>
          </a:p>
        </p:txBody>
      </p:sp>
      <p:grpSp>
        <p:nvGrpSpPr>
          <p:cNvPr name="Group 15" id="15"/>
          <p:cNvGrpSpPr/>
          <p:nvPr/>
        </p:nvGrpSpPr>
        <p:grpSpPr>
          <a:xfrm rot="0">
            <a:off x="6926657" y="2119184"/>
            <a:ext cx="3770902" cy="648866"/>
            <a:chOff x="0" y="0"/>
            <a:chExt cx="993159" cy="170895"/>
          </a:xfrm>
        </p:grpSpPr>
        <p:sp>
          <p:nvSpPr>
            <p:cNvPr name="Freeform 16" id="16"/>
            <p:cNvSpPr/>
            <p:nvPr/>
          </p:nvSpPr>
          <p:spPr>
            <a:xfrm flipH="false" flipV="false" rot="0">
              <a:off x="0" y="0"/>
              <a:ext cx="993159" cy="170895"/>
            </a:xfrm>
            <a:custGeom>
              <a:avLst/>
              <a:gdLst/>
              <a:ahLst/>
              <a:cxnLst/>
              <a:rect r="r" b="b" t="t" l="l"/>
              <a:pathLst>
                <a:path h="170895" w="993159">
                  <a:moveTo>
                    <a:pt x="0" y="0"/>
                  </a:moveTo>
                  <a:lnTo>
                    <a:pt x="993159" y="0"/>
                  </a:lnTo>
                  <a:lnTo>
                    <a:pt x="993159" y="170895"/>
                  </a:lnTo>
                  <a:lnTo>
                    <a:pt x="0" y="170895"/>
                  </a:lnTo>
                  <a:close/>
                </a:path>
              </a:pathLst>
            </a:custGeom>
            <a:solidFill>
              <a:srgbClr val="1A1A1A"/>
            </a:solidFill>
          </p:spPr>
        </p:sp>
        <p:sp>
          <p:nvSpPr>
            <p:cNvPr name="TextBox 17" id="17"/>
            <p:cNvSpPr txBox="true"/>
            <p:nvPr/>
          </p:nvSpPr>
          <p:spPr>
            <a:xfrm>
              <a:off x="0" y="-57150"/>
              <a:ext cx="993159" cy="228045"/>
            </a:xfrm>
            <a:prstGeom prst="rect">
              <a:avLst/>
            </a:prstGeom>
          </p:spPr>
          <p:txBody>
            <a:bodyPr anchor="ctr" rtlCol="false" tIns="50800" lIns="50800" bIns="50800" rIns="50800"/>
            <a:lstStyle/>
            <a:p>
              <a:pPr algn="ctr" marL="0" indent="0" lvl="0">
                <a:lnSpc>
                  <a:spcPts val="4114"/>
                </a:lnSpc>
                <a:spcBef>
                  <a:spcPct val="0"/>
                </a:spcBef>
              </a:pPr>
              <a:r>
                <a:rPr lang="en-US" sz="2981" spc="29">
                  <a:solidFill>
                    <a:srgbClr val="FFFFFF"/>
                  </a:solidFill>
                  <a:latin typeface="DM Sans Bold"/>
                </a:rPr>
                <a:t>SURF</a:t>
              </a:r>
            </a:p>
          </p:txBody>
        </p:sp>
      </p:grpSp>
      <p:sp>
        <p:nvSpPr>
          <p:cNvPr name="TextBox 18" id="18"/>
          <p:cNvSpPr txBox="true"/>
          <p:nvPr/>
        </p:nvSpPr>
        <p:spPr>
          <a:xfrm rot="0">
            <a:off x="5851428" y="2943647"/>
            <a:ext cx="6254887" cy="2392442"/>
          </a:xfrm>
          <a:prstGeom prst="rect">
            <a:avLst/>
          </a:prstGeom>
        </p:spPr>
        <p:txBody>
          <a:bodyPr anchor="t" rtlCol="false" tIns="0" lIns="0" bIns="0" rIns="0">
            <a:spAutoFit/>
          </a:bodyPr>
          <a:lstStyle/>
          <a:p>
            <a:pPr algn="ctr" marL="0" indent="0" lvl="0">
              <a:lnSpc>
                <a:spcPts val="2774"/>
              </a:lnSpc>
              <a:spcBef>
                <a:spcPct val="0"/>
              </a:spcBef>
            </a:pPr>
            <a:r>
              <a:rPr lang="en-US" sz="2010" spc="197">
                <a:solidFill>
                  <a:srgbClr val="231F20"/>
                </a:solidFill>
                <a:latin typeface="DM Sans"/>
              </a:rPr>
              <a:t>SURF is a feature detection algorithm used to identify and describe key points in images, providing robust matching across different scales and rotations. It efficiently detects and tracks vehicles by recognizing unique image features, enhancing reliability and performance in various conditions.</a:t>
            </a:r>
          </a:p>
        </p:txBody>
      </p:sp>
      <p:grpSp>
        <p:nvGrpSpPr>
          <p:cNvPr name="Group 19" id="19"/>
          <p:cNvGrpSpPr/>
          <p:nvPr/>
        </p:nvGrpSpPr>
        <p:grpSpPr>
          <a:xfrm rot="0">
            <a:off x="13777901" y="2120330"/>
            <a:ext cx="3474003" cy="647719"/>
            <a:chOff x="0" y="0"/>
            <a:chExt cx="914964" cy="170593"/>
          </a:xfrm>
        </p:grpSpPr>
        <p:sp>
          <p:nvSpPr>
            <p:cNvPr name="Freeform 20" id="20"/>
            <p:cNvSpPr/>
            <p:nvPr/>
          </p:nvSpPr>
          <p:spPr>
            <a:xfrm flipH="false" flipV="false" rot="0">
              <a:off x="0" y="0"/>
              <a:ext cx="914964" cy="170593"/>
            </a:xfrm>
            <a:custGeom>
              <a:avLst/>
              <a:gdLst/>
              <a:ahLst/>
              <a:cxnLst/>
              <a:rect r="r" b="b" t="t" l="l"/>
              <a:pathLst>
                <a:path h="170593" w="914964">
                  <a:moveTo>
                    <a:pt x="0" y="0"/>
                  </a:moveTo>
                  <a:lnTo>
                    <a:pt x="914964" y="0"/>
                  </a:lnTo>
                  <a:lnTo>
                    <a:pt x="914964" y="170593"/>
                  </a:lnTo>
                  <a:lnTo>
                    <a:pt x="0" y="170593"/>
                  </a:lnTo>
                  <a:close/>
                </a:path>
              </a:pathLst>
            </a:custGeom>
            <a:solidFill>
              <a:srgbClr val="1A1A1A"/>
            </a:solidFill>
          </p:spPr>
        </p:sp>
        <p:sp>
          <p:nvSpPr>
            <p:cNvPr name="TextBox 21" id="21"/>
            <p:cNvSpPr txBox="true"/>
            <p:nvPr/>
          </p:nvSpPr>
          <p:spPr>
            <a:xfrm>
              <a:off x="0" y="-57150"/>
              <a:ext cx="914964" cy="227743"/>
            </a:xfrm>
            <a:prstGeom prst="rect">
              <a:avLst/>
            </a:prstGeom>
          </p:spPr>
          <p:txBody>
            <a:bodyPr anchor="ctr" rtlCol="false" tIns="50800" lIns="50800" bIns="50800" rIns="50800"/>
            <a:lstStyle/>
            <a:p>
              <a:pPr algn="ctr" marL="0" indent="0" lvl="0">
                <a:lnSpc>
                  <a:spcPts val="4114"/>
                </a:lnSpc>
                <a:spcBef>
                  <a:spcPct val="0"/>
                </a:spcBef>
              </a:pPr>
              <a:r>
                <a:rPr lang="en-US" sz="2981" spc="29">
                  <a:solidFill>
                    <a:srgbClr val="FFFFFF"/>
                  </a:solidFill>
                  <a:latin typeface="DM Sans"/>
                </a:rPr>
                <a:t>RNN</a:t>
              </a:r>
            </a:p>
          </p:txBody>
        </p:sp>
      </p:grpSp>
      <p:sp>
        <p:nvSpPr>
          <p:cNvPr name="TextBox 22" id="22"/>
          <p:cNvSpPr txBox="true"/>
          <p:nvPr/>
        </p:nvSpPr>
        <p:spPr>
          <a:xfrm rot="0">
            <a:off x="13777901" y="3168090"/>
            <a:ext cx="3918542" cy="6164342"/>
          </a:xfrm>
          <a:prstGeom prst="rect">
            <a:avLst/>
          </a:prstGeom>
        </p:spPr>
        <p:txBody>
          <a:bodyPr anchor="t" rtlCol="false" tIns="0" lIns="0" bIns="0" rIns="0">
            <a:spAutoFit/>
          </a:bodyPr>
          <a:lstStyle/>
          <a:p>
            <a:pPr algn="ctr">
              <a:lnSpc>
                <a:spcPts val="2774"/>
              </a:lnSpc>
            </a:pPr>
            <a:r>
              <a:rPr lang="en-US" sz="2010" spc="197">
                <a:solidFill>
                  <a:srgbClr val="231F20"/>
                </a:solidFill>
                <a:latin typeface="DM Sans"/>
              </a:rPr>
              <a:t>RNN (Recurrent Neural Networks) is a cutting-edge neural network architecture designed for sequential data processing.</a:t>
            </a:r>
          </a:p>
          <a:p>
            <a:pPr algn="ctr">
              <a:lnSpc>
                <a:spcPts val="2774"/>
              </a:lnSpc>
            </a:pPr>
            <a:r>
              <a:rPr lang="en-US" sz="2010" spc="197">
                <a:solidFill>
                  <a:srgbClr val="231F20"/>
                </a:solidFill>
                <a:latin typeface="DM Sans"/>
              </a:rPr>
              <a:t>RNNs leverage their internal memory to capture temporal dependencies, making them ideal for time-series data analysis.</a:t>
            </a:r>
          </a:p>
          <a:p>
            <a:pPr algn="ctr">
              <a:lnSpc>
                <a:spcPts val="2774"/>
              </a:lnSpc>
            </a:pPr>
            <a:r>
              <a:rPr lang="en-US" sz="2010" spc="197">
                <a:solidFill>
                  <a:srgbClr val="231F20"/>
                </a:solidFill>
                <a:latin typeface="DM Sans"/>
              </a:rPr>
              <a:t>RNNs are essential in vehicle monitoring and surveillance systems by accurately predicting and tracking vehicle movements over time.</a:t>
            </a:r>
          </a:p>
          <a:p>
            <a:pPr algn="ctr" marL="0" indent="0" lvl="0">
              <a:lnSpc>
                <a:spcPts val="2774"/>
              </a:lnSpc>
              <a:spcBef>
                <a:spcPct val="0"/>
              </a:spcBef>
            </a:pPr>
          </a:p>
        </p:txBody>
      </p:sp>
      <p:sp>
        <p:nvSpPr>
          <p:cNvPr name="Freeform 23" id="23"/>
          <p:cNvSpPr/>
          <p:nvPr/>
        </p:nvSpPr>
        <p:spPr>
          <a:xfrm flipH="false" flipV="false" rot="0">
            <a:off x="14479722" y="-4833750"/>
            <a:ext cx="7616557" cy="7815497"/>
          </a:xfrm>
          <a:custGeom>
            <a:avLst/>
            <a:gdLst/>
            <a:ahLst/>
            <a:cxnLst/>
            <a:rect r="r" b="b" t="t" l="l"/>
            <a:pathLst>
              <a:path h="7815497" w="7616557">
                <a:moveTo>
                  <a:pt x="0" y="0"/>
                </a:moveTo>
                <a:lnTo>
                  <a:pt x="7616556" y="0"/>
                </a:lnTo>
                <a:lnTo>
                  <a:pt x="7616556" y="7815497"/>
                </a:lnTo>
                <a:lnTo>
                  <a:pt x="0" y="78154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false" flipV="false" rot="-4176364">
            <a:off x="-4105129" y="6530238"/>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59475" y="0"/>
            <a:ext cx="18547475" cy="1413583"/>
            <a:chOff x="0" y="0"/>
            <a:chExt cx="4884932" cy="372302"/>
          </a:xfrm>
        </p:grpSpPr>
        <p:sp>
          <p:nvSpPr>
            <p:cNvPr name="Freeform 4" id="4"/>
            <p:cNvSpPr/>
            <p:nvPr/>
          </p:nvSpPr>
          <p:spPr>
            <a:xfrm flipH="false" flipV="false" rot="0">
              <a:off x="0" y="0"/>
              <a:ext cx="4884932" cy="372302"/>
            </a:xfrm>
            <a:custGeom>
              <a:avLst/>
              <a:gdLst/>
              <a:ahLst/>
              <a:cxnLst/>
              <a:rect r="r" b="b" t="t" l="l"/>
              <a:pathLst>
                <a:path h="372302" w="4884932">
                  <a:moveTo>
                    <a:pt x="0" y="0"/>
                  </a:moveTo>
                  <a:lnTo>
                    <a:pt x="4884932" y="0"/>
                  </a:lnTo>
                  <a:lnTo>
                    <a:pt x="4884932" y="372302"/>
                  </a:lnTo>
                  <a:lnTo>
                    <a:pt x="0" y="372302"/>
                  </a:lnTo>
                  <a:close/>
                </a:path>
              </a:pathLst>
            </a:custGeom>
            <a:solidFill>
              <a:srgbClr val="1A1A1A"/>
            </a:solidFill>
          </p:spPr>
        </p:sp>
        <p:sp>
          <p:nvSpPr>
            <p:cNvPr name="TextBox 5" id="5"/>
            <p:cNvSpPr txBox="true"/>
            <p:nvPr/>
          </p:nvSpPr>
          <p:spPr>
            <a:xfrm>
              <a:off x="0" y="-19050"/>
              <a:ext cx="4884932" cy="391352"/>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3451022" y="-4821041"/>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851369" y="-3442596"/>
            <a:ext cx="6709932" cy="6885191"/>
          </a:xfrm>
          <a:custGeom>
            <a:avLst/>
            <a:gdLst/>
            <a:ahLst/>
            <a:cxnLst/>
            <a:rect r="r" b="b" t="t" l="l"/>
            <a:pathLst>
              <a:path h="6885191" w="6709932">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465043" y="1678540"/>
            <a:ext cx="11643390" cy="8094291"/>
          </a:xfrm>
          <a:custGeom>
            <a:avLst/>
            <a:gdLst/>
            <a:ahLst/>
            <a:cxnLst/>
            <a:rect r="r" b="b" t="t" l="l"/>
            <a:pathLst>
              <a:path h="8094291" w="11643390">
                <a:moveTo>
                  <a:pt x="0" y="0"/>
                </a:moveTo>
                <a:lnTo>
                  <a:pt x="11643389" y="0"/>
                </a:lnTo>
                <a:lnTo>
                  <a:pt x="11643389" y="8094291"/>
                </a:lnTo>
                <a:lnTo>
                  <a:pt x="0" y="8094291"/>
                </a:lnTo>
                <a:lnTo>
                  <a:pt x="0" y="0"/>
                </a:lnTo>
                <a:close/>
              </a:path>
            </a:pathLst>
          </a:custGeom>
          <a:blipFill>
            <a:blip r:embed="rId5"/>
            <a:stretch>
              <a:fillRect l="-940" t="0" r="-3392" b="0"/>
            </a:stretch>
          </a:blipFill>
        </p:spPr>
      </p:sp>
      <p:sp>
        <p:nvSpPr>
          <p:cNvPr name="TextBox 9" id="9"/>
          <p:cNvSpPr txBox="true"/>
          <p:nvPr/>
        </p:nvSpPr>
        <p:spPr>
          <a:xfrm rot="0">
            <a:off x="3202393" y="-34857"/>
            <a:ext cx="10906040" cy="1349947"/>
          </a:xfrm>
          <a:prstGeom prst="rect">
            <a:avLst/>
          </a:prstGeom>
        </p:spPr>
        <p:txBody>
          <a:bodyPr anchor="t" rtlCol="false" tIns="0" lIns="0" bIns="0" rIns="0">
            <a:spAutoFit/>
          </a:bodyPr>
          <a:lstStyle/>
          <a:p>
            <a:pPr algn="ctr">
              <a:lnSpc>
                <a:spcPts val="11082"/>
              </a:lnSpc>
            </a:pPr>
            <a:r>
              <a:rPr lang="en-US" sz="8030" spc="786">
                <a:solidFill>
                  <a:srgbClr val="FFFFFF"/>
                </a:solidFill>
                <a:latin typeface="Oswald Bold"/>
              </a:rPr>
              <a:t>RELATED WORK</a:t>
            </a:r>
          </a:p>
        </p:txBody>
      </p:sp>
      <p:sp>
        <p:nvSpPr>
          <p:cNvPr name="TextBox 10" id="10"/>
          <p:cNvSpPr txBox="true"/>
          <p:nvPr/>
        </p:nvSpPr>
        <p:spPr>
          <a:xfrm rot="0">
            <a:off x="226596" y="1454558"/>
            <a:ext cx="6238447" cy="8494629"/>
          </a:xfrm>
          <a:prstGeom prst="rect">
            <a:avLst/>
          </a:prstGeom>
        </p:spPr>
        <p:txBody>
          <a:bodyPr anchor="t" rtlCol="false" tIns="0" lIns="0" bIns="0" rIns="0">
            <a:spAutoFit/>
          </a:bodyPr>
          <a:lstStyle/>
          <a:p>
            <a:pPr algn="l" marL="0" indent="0" lvl="0">
              <a:lnSpc>
                <a:spcPts val="3550"/>
              </a:lnSpc>
              <a:spcBef>
                <a:spcPct val="0"/>
              </a:spcBef>
            </a:pPr>
            <a:r>
              <a:rPr lang="en-US" sz="2573" spc="252">
                <a:solidFill>
                  <a:srgbClr val="231F20"/>
                </a:solidFill>
                <a:latin typeface="DM Sans"/>
              </a:rPr>
              <a:t>This review examines developments in the discipline, including the use of tools like YOLOv4, DeepSORT, RNN, SURF, and SSD. The goal is to identify gaps, constraints, and potential prospects for further growth by assessing various research publications. This literature review serves as a framework for the development of the machine learning-based model for vehicle counting and tracking in this project. The study articles are presented below, along with a comparison table between them based on their outcomes, learning approach, limitations, and remarks.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59475" y="0"/>
            <a:ext cx="18547475" cy="1413583"/>
            <a:chOff x="0" y="0"/>
            <a:chExt cx="4884932" cy="372302"/>
          </a:xfrm>
        </p:grpSpPr>
        <p:sp>
          <p:nvSpPr>
            <p:cNvPr name="Freeform 4" id="4"/>
            <p:cNvSpPr/>
            <p:nvPr/>
          </p:nvSpPr>
          <p:spPr>
            <a:xfrm flipH="false" flipV="false" rot="0">
              <a:off x="0" y="0"/>
              <a:ext cx="4884932" cy="372302"/>
            </a:xfrm>
            <a:custGeom>
              <a:avLst/>
              <a:gdLst/>
              <a:ahLst/>
              <a:cxnLst/>
              <a:rect r="r" b="b" t="t" l="l"/>
              <a:pathLst>
                <a:path h="372302" w="4884932">
                  <a:moveTo>
                    <a:pt x="0" y="0"/>
                  </a:moveTo>
                  <a:lnTo>
                    <a:pt x="4884932" y="0"/>
                  </a:lnTo>
                  <a:lnTo>
                    <a:pt x="4884932" y="372302"/>
                  </a:lnTo>
                  <a:lnTo>
                    <a:pt x="0" y="372302"/>
                  </a:lnTo>
                  <a:close/>
                </a:path>
              </a:pathLst>
            </a:custGeom>
            <a:solidFill>
              <a:srgbClr val="1A1A1A"/>
            </a:solidFill>
          </p:spPr>
        </p:sp>
        <p:sp>
          <p:nvSpPr>
            <p:cNvPr name="TextBox 5" id="5"/>
            <p:cNvSpPr txBox="true"/>
            <p:nvPr/>
          </p:nvSpPr>
          <p:spPr>
            <a:xfrm>
              <a:off x="0" y="-19050"/>
              <a:ext cx="4884932" cy="391352"/>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3451022" y="-4821041"/>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851369" y="-3442596"/>
            <a:ext cx="6709932" cy="6885191"/>
          </a:xfrm>
          <a:custGeom>
            <a:avLst/>
            <a:gdLst/>
            <a:ahLst/>
            <a:cxnLst/>
            <a:rect r="r" b="b" t="t" l="l"/>
            <a:pathLst>
              <a:path h="6885191" w="6709932">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390225" y="1413583"/>
            <a:ext cx="17507551" cy="8873417"/>
          </a:xfrm>
          <a:custGeom>
            <a:avLst/>
            <a:gdLst/>
            <a:ahLst/>
            <a:cxnLst/>
            <a:rect r="r" b="b" t="t" l="l"/>
            <a:pathLst>
              <a:path h="8873417" w="17507551">
                <a:moveTo>
                  <a:pt x="0" y="0"/>
                </a:moveTo>
                <a:lnTo>
                  <a:pt x="17507550" y="0"/>
                </a:lnTo>
                <a:lnTo>
                  <a:pt x="17507550" y="8873417"/>
                </a:lnTo>
                <a:lnTo>
                  <a:pt x="0" y="8873417"/>
                </a:lnTo>
                <a:lnTo>
                  <a:pt x="0" y="0"/>
                </a:lnTo>
                <a:close/>
              </a:path>
            </a:pathLst>
          </a:custGeom>
          <a:blipFill>
            <a:blip r:embed="rId5"/>
            <a:stretch>
              <a:fillRect l="0" t="0" r="0" b="0"/>
            </a:stretch>
          </a:blipFill>
        </p:spPr>
      </p:sp>
      <p:sp>
        <p:nvSpPr>
          <p:cNvPr name="TextBox 9" id="9"/>
          <p:cNvSpPr txBox="true"/>
          <p:nvPr/>
        </p:nvSpPr>
        <p:spPr>
          <a:xfrm rot="0">
            <a:off x="3202393" y="-34857"/>
            <a:ext cx="10906040" cy="1349947"/>
          </a:xfrm>
          <a:prstGeom prst="rect">
            <a:avLst/>
          </a:prstGeom>
        </p:spPr>
        <p:txBody>
          <a:bodyPr anchor="t" rtlCol="false" tIns="0" lIns="0" bIns="0" rIns="0">
            <a:spAutoFit/>
          </a:bodyPr>
          <a:lstStyle/>
          <a:p>
            <a:pPr algn="ctr">
              <a:lnSpc>
                <a:spcPts val="11082"/>
              </a:lnSpc>
            </a:pPr>
            <a:r>
              <a:rPr lang="en-US" sz="8030" spc="786">
                <a:solidFill>
                  <a:srgbClr val="FFFFFF"/>
                </a:solidFill>
                <a:latin typeface="Oswald Bold"/>
              </a:rPr>
              <a:t>RELATED WORK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59475" y="0"/>
            <a:ext cx="18547475" cy="1413583"/>
            <a:chOff x="0" y="0"/>
            <a:chExt cx="4884932" cy="372302"/>
          </a:xfrm>
        </p:grpSpPr>
        <p:sp>
          <p:nvSpPr>
            <p:cNvPr name="Freeform 4" id="4"/>
            <p:cNvSpPr/>
            <p:nvPr/>
          </p:nvSpPr>
          <p:spPr>
            <a:xfrm flipH="false" flipV="false" rot="0">
              <a:off x="0" y="0"/>
              <a:ext cx="4884932" cy="372302"/>
            </a:xfrm>
            <a:custGeom>
              <a:avLst/>
              <a:gdLst/>
              <a:ahLst/>
              <a:cxnLst/>
              <a:rect r="r" b="b" t="t" l="l"/>
              <a:pathLst>
                <a:path h="372302" w="4884932">
                  <a:moveTo>
                    <a:pt x="0" y="0"/>
                  </a:moveTo>
                  <a:lnTo>
                    <a:pt x="4884932" y="0"/>
                  </a:lnTo>
                  <a:lnTo>
                    <a:pt x="4884932" y="372302"/>
                  </a:lnTo>
                  <a:lnTo>
                    <a:pt x="0" y="372302"/>
                  </a:lnTo>
                  <a:close/>
                </a:path>
              </a:pathLst>
            </a:custGeom>
            <a:solidFill>
              <a:srgbClr val="1A1A1A"/>
            </a:solidFill>
          </p:spPr>
        </p:sp>
        <p:sp>
          <p:nvSpPr>
            <p:cNvPr name="TextBox 5" id="5"/>
            <p:cNvSpPr txBox="true"/>
            <p:nvPr/>
          </p:nvSpPr>
          <p:spPr>
            <a:xfrm>
              <a:off x="0" y="-19050"/>
              <a:ext cx="4884932" cy="391352"/>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3451022" y="-4821041"/>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851369" y="-3442596"/>
            <a:ext cx="6709932" cy="6885191"/>
          </a:xfrm>
          <a:custGeom>
            <a:avLst/>
            <a:gdLst/>
            <a:ahLst/>
            <a:cxnLst/>
            <a:rect r="r" b="b" t="t" l="l"/>
            <a:pathLst>
              <a:path h="6885191" w="6709932">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669223" y="1413583"/>
            <a:ext cx="16690080" cy="9047125"/>
          </a:xfrm>
          <a:custGeom>
            <a:avLst/>
            <a:gdLst/>
            <a:ahLst/>
            <a:cxnLst/>
            <a:rect r="r" b="b" t="t" l="l"/>
            <a:pathLst>
              <a:path h="9047125" w="16690080">
                <a:moveTo>
                  <a:pt x="0" y="0"/>
                </a:moveTo>
                <a:lnTo>
                  <a:pt x="16690079" y="0"/>
                </a:lnTo>
                <a:lnTo>
                  <a:pt x="16690079" y="9047125"/>
                </a:lnTo>
                <a:lnTo>
                  <a:pt x="0" y="9047125"/>
                </a:lnTo>
                <a:lnTo>
                  <a:pt x="0" y="0"/>
                </a:lnTo>
                <a:close/>
              </a:path>
            </a:pathLst>
          </a:custGeom>
          <a:blipFill>
            <a:blip r:embed="rId5"/>
            <a:stretch>
              <a:fillRect l="0" t="0" r="0" b="0"/>
            </a:stretch>
          </a:blipFill>
        </p:spPr>
      </p:sp>
      <p:sp>
        <p:nvSpPr>
          <p:cNvPr name="TextBox 9" id="9"/>
          <p:cNvSpPr txBox="true"/>
          <p:nvPr/>
        </p:nvSpPr>
        <p:spPr>
          <a:xfrm rot="0">
            <a:off x="3202393" y="-34857"/>
            <a:ext cx="10906040" cy="1349947"/>
          </a:xfrm>
          <a:prstGeom prst="rect">
            <a:avLst/>
          </a:prstGeom>
        </p:spPr>
        <p:txBody>
          <a:bodyPr anchor="t" rtlCol="false" tIns="0" lIns="0" bIns="0" rIns="0">
            <a:spAutoFit/>
          </a:bodyPr>
          <a:lstStyle/>
          <a:p>
            <a:pPr algn="ctr">
              <a:lnSpc>
                <a:spcPts val="11082"/>
              </a:lnSpc>
            </a:pPr>
            <a:r>
              <a:rPr lang="en-US" sz="8030" spc="786">
                <a:solidFill>
                  <a:srgbClr val="FFFFFF"/>
                </a:solidFill>
                <a:latin typeface="Oswald Bold"/>
              </a:rPr>
              <a:t>RELATED WORK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59475" y="0"/>
            <a:ext cx="18547475" cy="1413583"/>
            <a:chOff x="0" y="0"/>
            <a:chExt cx="4884932" cy="372302"/>
          </a:xfrm>
        </p:grpSpPr>
        <p:sp>
          <p:nvSpPr>
            <p:cNvPr name="Freeform 4" id="4"/>
            <p:cNvSpPr/>
            <p:nvPr/>
          </p:nvSpPr>
          <p:spPr>
            <a:xfrm flipH="false" flipV="false" rot="0">
              <a:off x="0" y="0"/>
              <a:ext cx="4884932" cy="372302"/>
            </a:xfrm>
            <a:custGeom>
              <a:avLst/>
              <a:gdLst/>
              <a:ahLst/>
              <a:cxnLst/>
              <a:rect r="r" b="b" t="t" l="l"/>
              <a:pathLst>
                <a:path h="372302" w="4884932">
                  <a:moveTo>
                    <a:pt x="0" y="0"/>
                  </a:moveTo>
                  <a:lnTo>
                    <a:pt x="4884932" y="0"/>
                  </a:lnTo>
                  <a:lnTo>
                    <a:pt x="4884932" y="372302"/>
                  </a:lnTo>
                  <a:lnTo>
                    <a:pt x="0" y="372302"/>
                  </a:lnTo>
                  <a:close/>
                </a:path>
              </a:pathLst>
            </a:custGeom>
            <a:solidFill>
              <a:srgbClr val="1A1A1A"/>
            </a:solidFill>
          </p:spPr>
        </p:sp>
        <p:sp>
          <p:nvSpPr>
            <p:cNvPr name="TextBox 5" id="5"/>
            <p:cNvSpPr txBox="true"/>
            <p:nvPr/>
          </p:nvSpPr>
          <p:spPr>
            <a:xfrm>
              <a:off x="0" y="-19050"/>
              <a:ext cx="4884932" cy="391352"/>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3451022" y="-4821041"/>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851369" y="-3442596"/>
            <a:ext cx="6709932" cy="6885191"/>
          </a:xfrm>
          <a:custGeom>
            <a:avLst/>
            <a:gdLst/>
            <a:ahLst/>
            <a:cxnLst/>
            <a:rect r="r" b="b" t="t" l="l"/>
            <a:pathLst>
              <a:path h="6885191" w="6709932">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3202393" y="-34857"/>
            <a:ext cx="10906040" cy="1349947"/>
          </a:xfrm>
          <a:prstGeom prst="rect">
            <a:avLst/>
          </a:prstGeom>
        </p:spPr>
        <p:txBody>
          <a:bodyPr anchor="t" rtlCol="false" tIns="0" lIns="0" bIns="0" rIns="0">
            <a:spAutoFit/>
          </a:bodyPr>
          <a:lstStyle/>
          <a:p>
            <a:pPr algn="ctr">
              <a:lnSpc>
                <a:spcPts val="11082"/>
              </a:lnSpc>
            </a:pPr>
            <a:r>
              <a:rPr lang="en-US" sz="8030" spc="786">
                <a:solidFill>
                  <a:srgbClr val="FFFFFF"/>
                </a:solidFill>
                <a:latin typeface="Oswald Bold"/>
              </a:rPr>
              <a:t>LITERATURE GAP</a:t>
            </a:r>
          </a:p>
        </p:txBody>
      </p:sp>
      <p:sp>
        <p:nvSpPr>
          <p:cNvPr name="TextBox 9" id="9"/>
          <p:cNvSpPr txBox="true"/>
          <p:nvPr/>
        </p:nvSpPr>
        <p:spPr>
          <a:xfrm rot="0">
            <a:off x="168542" y="1737880"/>
            <a:ext cx="18776587" cy="8549120"/>
          </a:xfrm>
          <a:prstGeom prst="rect">
            <a:avLst/>
          </a:prstGeom>
        </p:spPr>
        <p:txBody>
          <a:bodyPr anchor="t" rtlCol="false" tIns="0" lIns="0" bIns="0" rIns="0">
            <a:spAutoFit/>
          </a:bodyPr>
          <a:lstStyle/>
          <a:p>
            <a:pPr algn="l">
              <a:lnSpc>
                <a:spcPts val="3388"/>
              </a:lnSpc>
            </a:pPr>
            <a:r>
              <a:rPr lang="en-US" sz="2420">
                <a:solidFill>
                  <a:srgbClr val="000000"/>
                </a:solidFill>
                <a:latin typeface="Canva Sans"/>
              </a:rPr>
              <a:t>Despite significant advancements, several research gaps remain in object detection and tracking for vehicle counting. </a:t>
            </a:r>
            <a:r>
              <a:rPr lang="en-US" sz="2420">
                <a:solidFill>
                  <a:srgbClr val="000000"/>
                </a:solidFill>
                <a:latin typeface="Canva Sans"/>
              </a:rPr>
              <a:t>Addressing these is crucial for enhancing accuracy, efficiency, and real-world applicability.</a:t>
            </a:r>
          </a:p>
          <a:p>
            <a:pPr algn="l">
              <a:lnSpc>
                <a:spcPts val="3388"/>
              </a:lnSpc>
            </a:pPr>
          </a:p>
          <a:p>
            <a:pPr algn="l" marL="522579" indent="-261289" lvl="1">
              <a:lnSpc>
                <a:spcPts val="3388"/>
              </a:lnSpc>
              <a:buAutoNum type="arabicPeriod" startAt="1"/>
            </a:pPr>
            <a:r>
              <a:rPr lang="en-US" sz="2420">
                <a:solidFill>
                  <a:srgbClr val="000000"/>
                </a:solidFill>
                <a:latin typeface="Canva Sans"/>
              </a:rPr>
              <a:t>Scalability and Real-Time Processing - </a:t>
            </a:r>
          </a:p>
          <a:p>
            <a:pPr algn="l">
              <a:lnSpc>
                <a:spcPts val="3388"/>
              </a:lnSpc>
            </a:pPr>
            <a:r>
              <a:rPr lang="en-US" sz="2420">
                <a:solidFill>
                  <a:srgbClr val="000000"/>
                </a:solidFill>
                <a:latin typeface="Canva Sans"/>
              </a:rPr>
              <a:t>              </a:t>
            </a:r>
            <a:r>
              <a:rPr lang="en-US" sz="2420">
                <a:solidFill>
                  <a:srgbClr val="000000"/>
                </a:solidFill>
                <a:latin typeface="Canva Sans"/>
              </a:rPr>
              <a:t>Challenge: High computational demand limits scalability in high-density traffic environments.</a:t>
            </a:r>
          </a:p>
          <a:p>
            <a:pPr algn="l">
              <a:lnSpc>
                <a:spcPts val="3388"/>
              </a:lnSpc>
            </a:pPr>
            <a:r>
              <a:rPr lang="en-US" sz="2420">
                <a:solidFill>
                  <a:srgbClr val="000000"/>
                </a:solidFill>
                <a:latin typeface="Canva Sans"/>
              </a:rPr>
              <a:t>              Future Focus: Develop efficient algorithms using model pruning, quantization, and optimized neural architectures.</a:t>
            </a:r>
          </a:p>
          <a:p>
            <a:pPr algn="l">
              <a:lnSpc>
                <a:spcPts val="3388"/>
              </a:lnSpc>
            </a:pPr>
            <a:r>
              <a:rPr lang="en-US" sz="2420">
                <a:solidFill>
                  <a:srgbClr val="000000"/>
                </a:solidFill>
                <a:latin typeface="Canva Sans"/>
              </a:rPr>
              <a:t>   2. Detection and Tracking in Adverse Conditions - </a:t>
            </a:r>
          </a:p>
          <a:p>
            <a:pPr algn="l">
              <a:lnSpc>
                <a:spcPts val="3388"/>
              </a:lnSpc>
            </a:pPr>
            <a:r>
              <a:rPr lang="en-US" sz="2420">
                <a:solidFill>
                  <a:srgbClr val="000000"/>
                </a:solidFill>
                <a:latin typeface="Canva Sans"/>
              </a:rPr>
              <a:t>              Challenge: Performance drops in rain, fog, and nighttime conditions.</a:t>
            </a:r>
          </a:p>
          <a:p>
            <a:pPr algn="l">
              <a:lnSpc>
                <a:spcPts val="3388"/>
              </a:lnSpc>
            </a:pPr>
            <a:r>
              <a:rPr lang="en-US" sz="2420">
                <a:solidFill>
                  <a:srgbClr val="000000"/>
                </a:solidFill>
                <a:latin typeface="Canva Sans"/>
              </a:rPr>
              <a:t>              </a:t>
            </a:r>
            <a:r>
              <a:rPr lang="en-US" sz="2420">
                <a:solidFill>
                  <a:srgbClr val="000000"/>
                </a:solidFill>
                <a:latin typeface="Canva Sans"/>
              </a:rPr>
              <a:t>Future Focus: Enhance models with additional sensor data (e.g., radar, LiDAR) and advanced  </a:t>
            </a:r>
          </a:p>
          <a:p>
            <a:pPr algn="l">
              <a:lnSpc>
                <a:spcPts val="3388"/>
              </a:lnSpc>
            </a:pPr>
            <a:r>
              <a:rPr lang="en-US" sz="2420">
                <a:solidFill>
                  <a:srgbClr val="000000"/>
                </a:solidFill>
                <a:latin typeface="Canva Sans"/>
              </a:rPr>
              <a:t>              data augmentation technique.</a:t>
            </a:r>
          </a:p>
          <a:p>
            <a:pPr algn="l">
              <a:lnSpc>
                <a:spcPts val="3388"/>
              </a:lnSpc>
            </a:pPr>
            <a:r>
              <a:rPr lang="en-US" sz="2420">
                <a:solidFill>
                  <a:srgbClr val="000000"/>
                </a:solidFill>
                <a:latin typeface="Canva Sans"/>
              </a:rPr>
              <a:t>   3.Handling Occlusions and Small Objects - </a:t>
            </a:r>
          </a:p>
          <a:p>
            <a:pPr algn="l">
              <a:lnSpc>
                <a:spcPts val="3388"/>
              </a:lnSpc>
            </a:pPr>
            <a:r>
              <a:rPr lang="en-US" sz="2420">
                <a:solidFill>
                  <a:srgbClr val="000000"/>
                </a:solidFill>
                <a:latin typeface="Canva Sans"/>
              </a:rPr>
              <a:t>              Challenge: Difficulty in detecting partially obscured or small vehicles.</a:t>
            </a:r>
          </a:p>
          <a:p>
            <a:pPr algn="l">
              <a:lnSpc>
                <a:spcPts val="3388"/>
              </a:lnSpc>
            </a:pPr>
            <a:r>
              <a:rPr lang="en-US" sz="2420">
                <a:solidFill>
                  <a:srgbClr val="000000"/>
                </a:solidFill>
                <a:latin typeface="Canva Sans"/>
              </a:rPr>
              <a:t>              Future Focus: Implement multi-view camera systems and advanced feature extraction methods.</a:t>
            </a:r>
          </a:p>
          <a:p>
            <a:pPr algn="l">
              <a:lnSpc>
                <a:spcPts val="3388"/>
              </a:lnSpc>
            </a:pPr>
            <a:r>
              <a:rPr lang="en-US" sz="2420">
                <a:solidFill>
                  <a:srgbClr val="000000"/>
                </a:solidFill>
                <a:latin typeface="Canva Sans"/>
              </a:rPr>
              <a:t>   4.Generalization Across Different Environments - </a:t>
            </a:r>
          </a:p>
          <a:p>
            <a:pPr algn="l">
              <a:lnSpc>
                <a:spcPts val="3388"/>
              </a:lnSpc>
            </a:pPr>
            <a:r>
              <a:rPr lang="en-US" sz="2420">
                <a:solidFill>
                  <a:srgbClr val="000000"/>
                </a:solidFill>
                <a:latin typeface="Canva Sans"/>
              </a:rPr>
              <a:t>              Challenge: Models trained in specific conditions may not generalize well to new environments.</a:t>
            </a:r>
          </a:p>
          <a:p>
            <a:pPr algn="l">
              <a:lnSpc>
                <a:spcPts val="3388"/>
              </a:lnSpc>
            </a:pPr>
            <a:r>
              <a:rPr lang="en-US" sz="2420">
                <a:solidFill>
                  <a:srgbClr val="000000"/>
                </a:solidFill>
                <a:latin typeface="Canva Sans"/>
              </a:rPr>
              <a:t>              Future Focus: Utilize transfer learning and domain adaptation techniques for better adaptability.</a:t>
            </a:r>
          </a:p>
          <a:p>
            <a:pPr algn="l">
              <a:lnSpc>
                <a:spcPts val="3388"/>
              </a:lnSpc>
            </a:pPr>
            <a:r>
              <a:rPr lang="en-US" sz="2420">
                <a:solidFill>
                  <a:srgbClr val="000000"/>
                </a:solidFill>
                <a:latin typeface="Canva Sans"/>
              </a:rPr>
              <a:t>   5.Benchmarking and Standardization - </a:t>
            </a:r>
          </a:p>
          <a:p>
            <a:pPr algn="l">
              <a:lnSpc>
                <a:spcPts val="3388"/>
              </a:lnSpc>
            </a:pPr>
            <a:r>
              <a:rPr lang="en-US" sz="2420">
                <a:solidFill>
                  <a:srgbClr val="000000"/>
                </a:solidFill>
                <a:latin typeface="Canva Sans"/>
              </a:rPr>
              <a:t>             Challenge: Lack of standardized benchmarks for performance evaluation.</a:t>
            </a:r>
          </a:p>
          <a:p>
            <a:pPr algn="l">
              <a:lnSpc>
                <a:spcPts val="3388"/>
              </a:lnSpc>
            </a:pPr>
            <a:r>
              <a:rPr lang="en-US" sz="2420">
                <a:solidFill>
                  <a:srgbClr val="000000"/>
                </a:solidFill>
                <a:latin typeface="Canva Sans"/>
              </a:rPr>
              <a:t>             Future Focus: Develop standardized benchmarks and evaluation protocols for consistent and reliable comparisons.</a:t>
            </a:r>
          </a:p>
          <a:p>
            <a:pPr algn="l">
              <a:lnSpc>
                <a:spcPts val="3388"/>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grpSp>
        <p:nvGrpSpPr>
          <p:cNvPr name="Group 3" id="3"/>
          <p:cNvGrpSpPr/>
          <p:nvPr/>
        </p:nvGrpSpPr>
        <p:grpSpPr>
          <a:xfrm rot="0">
            <a:off x="-278889" y="117972"/>
            <a:ext cx="18547475" cy="1821456"/>
            <a:chOff x="0" y="0"/>
            <a:chExt cx="4884932" cy="479725"/>
          </a:xfrm>
        </p:grpSpPr>
        <p:sp>
          <p:nvSpPr>
            <p:cNvPr name="Freeform 4" id="4"/>
            <p:cNvSpPr/>
            <p:nvPr/>
          </p:nvSpPr>
          <p:spPr>
            <a:xfrm flipH="false" flipV="false" rot="0">
              <a:off x="0" y="0"/>
              <a:ext cx="4884932" cy="479725"/>
            </a:xfrm>
            <a:custGeom>
              <a:avLst/>
              <a:gdLst/>
              <a:ahLst/>
              <a:cxnLst/>
              <a:rect r="r" b="b" t="t" l="l"/>
              <a:pathLst>
                <a:path h="479725" w="4884932">
                  <a:moveTo>
                    <a:pt x="0" y="0"/>
                  </a:moveTo>
                  <a:lnTo>
                    <a:pt x="4884932" y="0"/>
                  </a:lnTo>
                  <a:lnTo>
                    <a:pt x="4884932" y="479725"/>
                  </a:lnTo>
                  <a:lnTo>
                    <a:pt x="0" y="479725"/>
                  </a:lnTo>
                  <a:close/>
                </a:path>
              </a:pathLst>
            </a:custGeom>
            <a:solidFill>
              <a:srgbClr val="1A1A1A"/>
            </a:solidFill>
          </p:spPr>
        </p:sp>
        <p:sp>
          <p:nvSpPr>
            <p:cNvPr name="TextBox 5" id="5"/>
            <p:cNvSpPr txBox="true"/>
            <p:nvPr/>
          </p:nvSpPr>
          <p:spPr>
            <a:xfrm>
              <a:off x="0" y="-19050"/>
              <a:ext cx="4884932" cy="498775"/>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13451022" y="-4821041"/>
            <a:ext cx="7616557" cy="7815497"/>
          </a:xfrm>
          <a:custGeom>
            <a:avLst/>
            <a:gdLst/>
            <a:ahLst/>
            <a:cxnLst/>
            <a:rect r="r" b="b" t="t" l="l"/>
            <a:pathLst>
              <a:path h="7815497" w="7616557">
                <a:moveTo>
                  <a:pt x="0" y="0"/>
                </a:moveTo>
                <a:lnTo>
                  <a:pt x="7616556" y="0"/>
                </a:lnTo>
                <a:lnTo>
                  <a:pt x="7616556" y="7815496"/>
                </a:lnTo>
                <a:lnTo>
                  <a:pt x="0" y="78154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851369" y="-3442596"/>
            <a:ext cx="6709932" cy="6885191"/>
          </a:xfrm>
          <a:custGeom>
            <a:avLst/>
            <a:gdLst/>
            <a:ahLst/>
            <a:cxnLst/>
            <a:rect r="r" b="b" t="t" l="l"/>
            <a:pathLst>
              <a:path h="6885191" w="6709932">
                <a:moveTo>
                  <a:pt x="0" y="0"/>
                </a:moveTo>
                <a:lnTo>
                  <a:pt x="6709932" y="0"/>
                </a:lnTo>
                <a:lnTo>
                  <a:pt x="6709932" y="6885192"/>
                </a:lnTo>
                <a:lnTo>
                  <a:pt x="0" y="6885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35958" y="6562734"/>
            <a:ext cx="8994848" cy="3884099"/>
          </a:xfrm>
          <a:custGeom>
            <a:avLst/>
            <a:gdLst/>
            <a:ahLst/>
            <a:cxnLst/>
            <a:rect r="r" b="b" t="t" l="l"/>
            <a:pathLst>
              <a:path h="3884099" w="8994848">
                <a:moveTo>
                  <a:pt x="0" y="0"/>
                </a:moveTo>
                <a:lnTo>
                  <a:pt x="8994849" y="0"/>
                </a:lnTo>
                <a:lnTo>
                  <a:pt x="8994849" y="3884099"/>
                </a:lnTo>
                <a:lnTo>
                  <a:pt x="0" y="3884099"/>
                </a:lnTo>
                <a:lnTo>
                  <a:pt x="0" y="0"/>
                </a:lnTo>
                <a:close/>
              </a:path>
            </a:pathLst>
          </a:custGeom>
          <a:blipFill>
            <a:blip r:embed="rId5"/>
            <a:stretch>
              <a:fillRect l="-1161" t="-1335" r="0" b="-1335"/>
            </a:stretch>
          </a:blipFill>
        </p:spPr>
      </p:sp>
      <p:sp>
        <p:nvSpPr>
          <p:cNvPr name="TextBox 9" id="9"/>
          <p:cNvSpPr txBox="true"/>
          <p:nvPr/>
        </p:nvSpPr>
        <p:spPr>
          <a:xfrm rot="0">
            <a:off x="2867062" y="426520"/>
            <a:ext cx="11381892" cy="1349947"/>
          </a:xfrm>
          <a:prstGeom prst="rect">
            <a:avLst/>
          </a:prstGeom>
        </p:spPr>
        <p:txBody>
          <a:bodyPr anchor="t" rtlCol="false" tIns="0" lIns="0" bIns="0" rIns="0">
            <a:spAutoFit/>
          </a:bodyPr>
          <a:lstStyle/>
          <a:p>
            <a:pPr algn="ctr">
              <a:lnSpc>
                <a:spcPts val="11082"/>
              </a:lnSpc>
            </a:pPr>
            <a:r>
              <a:rPr lang="en-US" sz="8030" spc="786">
                <a:solidFill>
                  <a:srgbClr val="FFFFFF"/>
                </a:solidFill>
                <a:latin typeface="Oswald Bold"/>
              </a:rPr>
              <a:t>RESEARCH QUESTIONS</a:t>
            </a:r>
          </a:p>
        </p:txBody>
      </p:sp>
      <p:sp>
        <p:nvSpPr>
          <p:cNvPr name="Freeform 10" id="10"/>
          <p:cNvSpPr/>
          <p:nvPr/>
        </p:nvSpPr>
        <p:spPr>
          <a:xfrm flipH="false" flipV="false" rot="0">
            <a:off x="8558008" y="3165168"/>
            <a:ext cx="10073635" cy="7121832"/>
          </a:xfrm>
          <a:custGeom>
            <a:avLst/>
            <a:gdLst/>
            <a:ahLst/>
            <a:cxnLst/>
            <a:rect r="r" b="b" t="t" l="l"/>
            <a:pathLst>
              <a:path h="7121832" w="10073635">
                <a:moveTo>
                  <a:pt x="0" y="0"/>
                </a:moveTo>
                <a:lnTo>
                  <a:pt x="10073635" y="0"/>
                </a:lnTo>
                <a:lnTo>
                  <a:pt x="10073635" y="7121832"/>
                </a:lnTo>
                <a:lnTo>
                  <a:pt x="0" y="7121832"/>
                </a:lnTo>
                <a:lnTo>
                  <a:pt x="0" y="0"/>
                </a:lnTo>
                <a:close/>
              </a:path>
            </a:pathLst>
          </a:custGeom>
          <a:blipFill>
            <a:blip r:embed="rId6"/>
            <a:stretch>
              <a:fillRect l="0" t="-709" r="0" b="-709"/>
            </a:stretch>
          </a:blipFill>
        </p:spPr>
      </p:sp>
      <p:sp>
        <p:nvSpPr>
          <p:cNvPr name="TextBox 11" id="11"/>
          <p:cNvSpPr txBox="true"/>
          <p:nvPr/>
        </p:nvSpPr>
        <p:spPr>
          <a:xfrm rot="0">
            <a:off x="319905" y="2551120"/>
            <a:ext cx="8355039" cy="3192465"/>
          </a:xfrm>
          <a:prstGeom prst="rect">
            <a:avLst/>
          </a:prstGeom>
        </p:spPr>
        <p:txBody>
          <a:bodyPr anchor="t" rtlCol="false" tIns="0" lIns="0" bIns="0" rIns="0">
            <a:spAutoFit/>
          </a:bodyPr>
          <a:lstStyle/>
          <a:p>
            <a:pPr algn="ctr" marL="0" indent="0" lvl="0">
              <a:lnSpc>
                <a:spcPts val="3705"/>
              </a:lnSpc>
              <a:spcBef>
                <a:spcPct val="0"/>
              </a:spcBef>
            </a:pPr>
            <a:r>
              <a:rPr lang="en-US" sz="2685" spc="263">
                <a:solidFill>
                  <a:srgbClr val="231F20"/>
                </a:solidFill>
                <a:latin typeface="DM Sans"/>
              </a:rPr>
              <a:t>In this research, we pose several key questions to guide our investigation into the effectiveness of various object detection and tracking algorithms for vehicle surveillance, aiming to identify the best combination for accurate and reliable vehicle counting.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887923">
            <a:off x="12915345" y="-3608134"/>
            <a:ext cx="7032580" cy="7216267"/>
          </a:xfrm>
          <a:custGeom>
            <a:avLst/>
            <a:gdLst/>
            <a:ahLst/>
            <a:cxnLst/>
            <a:rect r="r" b="b" t="t" l="l"/>
            <a:pathLst>
              <a:path h="7216267" w="7032580">
                <a:moveTo>
                  <a:pt x="0" y="0"/>
                </a:moveTo>
                <a:lnTo>
                  <a:pt x="7032580" y="0"/>
                </a:lnTo>
                <a:lnTo>
                  <a:pt x="7032580" y="7216268"/>
                </a:lnTo>
                <a:lnTo>
                  <a:pt x="0" y="72162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432213"/>
            <a:ext cx="12806685" cy="8854787"/>
          </a:xfrm>
          <a:custGeom>
            <a:avLst/>
            <a:gdLst/>
            <a:ahLst/>
            <a:cxnLst/>
            <a:rect r="r" b="b" t="t" l="l"/>
            <a:pathLst>
              <a:path h="8854787" w="12806685">
                <a:moveTo>
                  <a:pt x="0" y="0"/>
                </a:moveTo>
                <a:lnTo>
                  <a:pt x="12806685" y="0"/>
                </a:lnTo>
                <a:lnTo>
                  <a:pt x="12806685" y="8854787"/>
                </a:lnTo>
                <a:lnTo>
                  <a:pt x="0" y="8854787"/>
                </a:lnTo>
                <a:lnTo>
                  <a:pt x="0" y="0"/>
                </a:lnTo>
                <a:close/>
              </a:path>
            </a:pathLst>
          </a:custGeom>
          <a:blipFill>
            <a:blip r:embed="rId4"/>
            <a:stretch>
              <a:fillRect l="0" t="0" r="0" b="0"/>
            </a:stretch>
          </a:blipFill>
        </p:spPr>
      </p:sp>
      <p:sp>
        <p:nvSpPr>
          <p:cNvPr name="TextBox 4" id="4"/>
          <p:cNvSpPr txBox="true"/>
          <p:nvPr/>
        </p:nvSpPr>
        <p:spPr>
          <a:xfrm rot="0">
            <a:off x="4804189" y="-161925"/>
            <a:ext cx="5255707" cy="1594138"/>
          </a:xfrm>
          <a:prstGeom prst="rect">
            <a:avLst/>
          </a:prstGeom>
        </p:spPr>
        <p:txBody>
          <a:bodyPr anchor="t" rtlCol="false" tIns="0" lIns="0" bIns="0" rIns="0">
            <a:spAutoFit/>
          </a:bodyPr>
          <a:lstStyle/>
          <a:p>
            <a:pPr algn="l" marL="0" indent="0" lvl="0">
              <a:lnSpc>
                <a:spcPts val="13015"/>
              </a:lnSpc>
              <a:spcBef>
                <a:spcPct val="0"/>
              </a:spcBef>
            </a:pPr>
            <a:r>
              <a:rPr lang="en-US" sz="9431" spc="924">
                <a:solidFill>
                  <a:srgbClr val="231F20"/>
                </a:solidFill>
                <a:latin typeface="Oswald Bold"/>
              </a:rPr>
              <a:t>RESULT</a:t>
            </a:r>
          </a:p>
        </p:txBody>
      </p:sp>
      <p:sp>
        <p:nvSpPr>
          <p:cNvPr name="Freeform 5" id="5"/>
          <p:cNvSpPr/>
          <p:nvPr/>
        </p:nvSpPr>
        <p:spPr>
          <a:xfrm flipH="false" flipV="false" rot="887923">
            <a:off x="14640351" y="5165054"/>
            <a:ext cx="7032580" cy="7216267"/>
          </a:xfrm>
          <a:custGeom>
            <a:avLst/>
            <a:gdLst/>
            <a:ahLst/>
            <a:cxnLst/>
            <a:rect r="r" b="b" t="t" l="l"/>
            <a:pathLst>
              <a:path h="7216267" w="7032580">
                <a:moveTo>
                  <a:pt x="0" y="0"/>
                </a:moveTo>
                <a:lnTo>
                  <a:pt x="7032580" y="0"/>
                </a:lnTo>
                <a:lnTo>
                  <a:pt x="7032580" y="7216267"/>
                </a:lnTo>
                <a:lnTo>
                  <a:pt x="0" y="7216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887923">
            <a:off x="14771710" y="-3744091"/>
            <a:ext cx="7032580" cy="7216267"/>
          </a:xfrm>
          <a:custGeom>
            <a:avLst/>
            <a:gdLst/>
            <a:ahLst/>
            <a:cxnLst/>
            <a:rect r="r" b="b" t="t" l="l"/>
            <a:pathLst>
              <a:path h="7216267" w="7032580">
                <a:moveTo>
                  <a:pt x="0" y="0"/>
                </a:moveTo>
                <a:lnTo>
                  <a:pt x="7032580" y="0"/>
                </a:lnTo>
                <a:lnTo>
                  <a:pt x="7032580" y="7216267"/>
                </a:lnTo>
                <a:lnTo>
                  <a:pt x="0" y="7216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804189" y="-161925"/>
            <a:ext cx="5255707" cy="1594138"/>
          </a:xfrm>
          <a:prstGeom prst="rect">
            <a:avLst/>
          </a:prstGeom>
        </p:spPr>
        <p:txBody>
          <a:bodyPr anchor="t" rtlCol="false" tIns="0" lIns="0" bIns="0" rIns="0">
            <a:spAutoFit/>
          </a:bodyPr>
          <a:lstStyle/>
          <a:p>
            <a:pPr algn="l" marL="0" indent="0" lvl="0">
              <a:lnSpc>
                <a:spcPts val="13015"/>
              </a:lnSpc>
              <a:spcBef>
                <a:spcPct val="0"/>
              </a:spcBef>
            </a:pPr>
            <a:r>
              <a:rPr lang="en-US" sz="9431" spc="924">
                <a:solidFill>
                  <a:srgbClr val="231F20"/>
                </a:solidFill>
                <a:latin typeface="Oswald Bold"/>
              </a:rPr>
              <a:t>RESULT</a:t>
            </a:r>
          </a:p>
        </p:txBody>
      </p:sp>
      <p:sp>
        <p:nvSpPr>
          <p:cNvPr name="Freeform 4" id="4"/>
          <p:cNvSpPr/>
          <p:nvPr/>
        </p:nvSpPr>
        <p:spPr>
          <a:xfrm flipH="false" flipV="false" rot="887923">
            <a:off x="15433437" y="5459629"/>
            <a:ext cx="7032580" cy="7216267"/>
          </a:xfrm>
          <a:custGeom>
            <a:avLst/>
            <a:gdLst/>
            <a:ahLst/>
            <a:cxnLst/>
            <a:rect r="r" b="b" t="t" l="l"/>
            <a:pathLst>
              <a:path h="7216267" w="7032580">
                <a:moveTo>
                  <a:pt x="0" y="0"/>
                </a:moveTo>
                <a:lnTo>
                  <a:pt x="7032580" y="0"/>
                </a:lnTo>
                <a:lnTo>
                  <a:pt x="7032580" y="7216267"/>
                </a:lnTo>
                <a:lnTo>
                  <a:pt x="0" y="7216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9139238" y="4819967"/>
            <a:ext cx="9525" cy="580390"/>
          </a:xfrm>
          <a:prstGeom prst="rect">
            <a:avLst/>
          </a:prstGeom>
        </p:spPr>
        <p:txBody>
          <a:bodyPr anchor="t" rtlCol="false" tIns="0" lIns="0" bIns="0" rIns="0">
            <a:spAutoFit/>
          </a:bodyPr>
          <a:lstStyle/>
          <a:p>
            <a:pPr algn="ctr">
              <a:lnSpc>
                <a:spcPts val="4759"/>
              </a:lnSpc>
            </a:pPr>
          </a:p>
        </p:txBody>
      </p:sp>
      <p:sp>
        <p:nvSpPr>
          <p:cNvPr name="TextBox 6" id="6"/>
          <p:cNvSpPr txBox="true"/>
          <p:nvPr/>
        </p:nvSpPr>
        <p:spPr>
          <a:xfrm rot="0">
            <a:off x="158617" y="1941553"/>
            <a:ext cx="18288000" cy="8590037"/>
          </a:xfrm>
          <a:prstGeom prst="rect">
            <a:avLst/>
          </a:prstGeom>
        </p:spPr>
        <p:txBody>
          <a:bodyPr anchor="t" rtlCol="false" tIns="0" lIns="0" bIns="0" rIns="0">
            <a:spAutoFit/>
          </a:bodyPr>
          <a:lstStyle/>
          <a:p>
            <a:pPr algn="l">
              <a:lnSpc>
                <a:spcPts val="3625"/>
              </a:lnSpc>
            </a:pPr>
            <a:r>
              <a:rPr lang="en-US" sz="2589">
                <a:solidFill>
                  <a:srgbClr val="231F20"/>
                </a:solidFill>
                <a:latin typeface="Canva Sans"/>
              </a:rPr>
              <a:t> The performance evaluation of various hybrid model combinations under different weather conditions</a:t>
            </a:r>
          </a:p>
          <a:p>
            <a:pPr algn="l">
              <a:lnSpc>
                <a:spcPts val="3625"/>
              </a:lnSpc>
            </a:pPr>
            <a:r>
              <a:rPr lang="en-US" sz="2589">
                <a:solidFill>
                  <a:srgbClr val="231F20"/>
                </a:solidFill>
                <a:latin typeface="Canva Sans"/>
              </a:rPr>
              <a:t> reveals significant insights:</a:t>
            </a:r>
          </a:p>
          <a:p>
            <a:pPr algn="l">
              <a:lnSpc>
                <a:spcPts val="3625"/>
              </a:lnSpc>
            </a:pPr>
          </a:p>
          <a:p>
            <a:pPr algn="l" marL="559115" indent="-279558" lvl="1">
              <a:lnSpc>
                <a:spcPts val="3625"/>
              </a:lnSpc>
              <a:buFont typeface="Arial"/>
              <a:buChar char="•"/>
            </a:pPr>
            <a:r>
              <a:rPr lang="en-US" sz="2589">
                <a:solidFill>
                  <a:srgbClr val="231F20"/>
                </a:solidFill>
                <a:latin typeface="Canva Sans"/>
              </a:rPr>
              <a:t>YOLOv4 and DeepSORT: Achieved the highest overall vehicle count accuracy (98.5%) and demonstrated excellent performance across all conditions, making it the most robust combination.</a:t>
            </a:r>
          </a:p>
          <a:p>
            <a:pPr algn="l" marL="559115" indent="-279558" lvl="1">
              <a:lnSpc>
                <a:spcPts val="3625"/>
              </a:lnSpc>
              <a:buFont typeface="Arial"/>
              <a:buChar char="•"/>
            </a:pPr>
            <a:r>
              <a:rPr lang="en-US" sz="2589">
                <a:solidFill>
                  <a:srgbClr val="231F20"/>
                </a:solidFill>
                <a:latin typeface="Canva Sans"/>
              </a:rPr>
              <a:t>RNN and DeepSORT: While showing good overall performance (92.1%), this combination struggles in rainy conditions, affecting its reliability.</a:t>
            </a:r>
          </a:p>
          <a:p>
            <a:pPr algn="l" marL="559115" indent="-279558" lvl="1">
              <a:lnSpc>
                <a:spcPts val="3625"/>
              </a:lnSpc>
              <a:buFont typeface="Arial"/>
              <a:buChar char="•"/>
            </a:pPr>
            <a:r>
              <a:rPr lang="en-US" sz="2589">
                <a:solidFill>
                  <a:srgbClr val="231F20"/>
                </a:solidFill>
                <a:latin typeface="Canva Sans"/>
              </a:rPr>
              <a:t>SSD and DeepSORT: Exhibited strong performance in daylight conditions (96.7%) but showed a decline at night, indicating a need for further improvement in low-light scenarios.</a:t>
            </a:r>
          </a:p>
          <a:p>
            <a:pPr algn="l" marL="559115" indent="-279558" lvl="1">
              <a:lnSpc>
                <a:spcPts val="3625"/>
              </a:lnSpc>
              <a:buFont typeface="Arial"/>
              <a:buChar char="•"/>
            </a:pPr>
            <a:r>
              <a:rPr lang="en-US" sz="2589">
                <a:solidFill>
                  <a:srgbClr val="231F20"/>
                </a:solidFill>
                <a:latin typeface="Canva Sans"/>
              </a:rPr>
              <a:t>SURF and DeepSORT: Had the lowest performance across all metrics, with an overall vehicle count accuracy of 88.3%, making it unsuitable for reliable vehicle surveillance.</a:t>
            </a:r>
          </a:p>
          <a:p>
            <a:pPr algn="l" marL="559115" indent="-279558" lvl="1">
              <a:lnSpc>
                <a:spcPts val="3625"/>
              </a:lnSpc>
              <a:buFont typeface="Arial"/>
              <a:buChar char="•"/>
            </a:pPr>
            <a:r>
              <a:rPr lang="en-US" sz="2589">
                <a:solidFill>
                  <a:srgbClr val="231F20"/>
                </a:solidFill>
                <a:latin typeface="Canva Sans"/>
              </a:rPr>
              <a:t>YOLOv4 and RNN: Delivered good overall performance (94.8%), but it still falls short compared to the YOLOv4 and DeepSORT combination.</a:t>
            </a:r>
          </a:p>
          <a:p>
            <a:pPr algn="l">
              <a:lnSpc>
                <a:spcPts val="3625"/>
              </a:lnSpc>
            </a:pPr>
          </a:p>
          <a:p>
            <a:pPr algn="l">
              <a:lnSpc>
                <a:spcPts val="3625"/>
              </a:lnSpc>
            </a:pPr>
            <a:r>
              <a:rPr lang="en-US" sz="2589">
                <a:solidFill>
                  <a:srgbClr val="231F20"/>
                </a:solidFill>
                <a:latin typeface="Canva Sans"/>
              </a:rPr>
              <a:t>These results highlight YOLOv4 and DeepSORT as the most effective combination for accurate and consistent   vehicle counting in diverse weather conditions.</a:t>
            </a:r>
          </a:p>
          <a:p>
            <a:pPr algn="ctr">
              <a:lnSpc>
                <a:spcPts val="3682"/>
              </a:lnSpc>
            </a:pPr>
          </a:p>
          <a:p>
            <a:pPr algn="ctr">
              <a:lnSpc>
                <a:spcPts val="3682"/>
              </a:lnSpc>
            </a:pPr>
          </a:p>
          <a:p>
            <a:pPr algn="ctr">
              <a:lnSpc>
                <a:spcPts val="259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0">
            <a:off x="0" y="351298"/>
            <a:ext cx="18288000" cy="9584405"/>
          </a:xfrm>
          <a:custGeom>
            <a:avLst/>
            <a:gdLst/>
            <a:ahLst/>
            <a:cxnLst/>
            <a:rect r="r" b="b" t="t" l="l"/>
            <a:pathLst>
              <a:path h="9584405" w="18288000">
                <a:moveTo>
                  <a:pt x="0" y="0"/>
                </a:moveTo>
                <a:lnTo>
                  <a:pt x="18288000" y="0"/>
                </a:lnTo>
                <a:lnTo>
                  <a:pt x="18288000" y="9584404"/>
                </a:lnTo>
                <a:lnTo>
                  <a:pt x="0" y="9584404"/>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887923">
            <a:off x="13549814" y="-3608134"/>
            <a:ext cx="7032580" cy="7216267"/>
          </a:xfrm>
          <a:custGeom>
            <a:avLst/>
            <a:gdLst/>
            <a:ahLst/>
            <a:cxnLst/>
            <a:rect r="r" b="b" t="t" l="l"/>
            <a:pathLst>
              <a:path h="7216267" w="7032580">
                <a:moveTo>
                  <a:pt x="0" y="0"/>
                </a:moveTo>
                <a:lnTo>
                  <a:pt x="7032580" y="0"/>
                </a:lnTo>
                <a:lnTo>
                  <a:pt x="7032580" y="7216268"/>
                </a:lnTo>
                <a:lnTo>
                  <a:pt x="0" y="72162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10867" y="-161925"/>
            <a:ext cx="9537014" cy="1594138"/>
          </a:xfrm>
          <a:prstGeom prst="rect">
            <a:avLst/>
          </a:prstGeom>
        </p:spPr>
        <p:txBody>
          <a:bodyPr anchor="t" rtlCol="false" tIns="0" lIns="0" bIns="0" rIns="0">
            <a:spAutoFit/>
          </a:bodyPr>
          <a:lstStyle/>
          <a:p>
            <a:pPr algn="l" marL="0" indent="0" lvl="0">
              <a:lnSpc>
                <a:spcPts val="13015"/>
              </a:lnSpc>
              <a:spcBef>
                <a:spcPct val="0"/>
              </a:spcBef>
            </a:pPr>
            <a:r>
              <a:rPr lang="en-US" sz="9431" spc="924">
                <a:solidFill>
                  <a:srgbClr val="231F20"/>
                </a:solidFill>
                <a:latin typeface="Oswald Bold"/>
              </a:rPr>
              <a:t>REFERENCES</a:t>
            </a:r>
          </a:p>
        </p:txBody>
      </p:sp>
      <p:sp>
        <p:nvSpPr>
          <p:cNvPr name="TextBox 4" id="4"/>
          <p:cNvSpPr txBox="true"/>
          <p:nvPr/>
        </p:nvSpPr>
        <p:spPr>
          <a:xfrm rot="0">
            <a:off x="1318292" y="1580353"/>
            <a:ext cx="13482363" cy="84061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231F20"/>
                </a:solidFill>
                <a:latin typeface="Canva Sans"/>
              </a:rPr>
              <a:t>[1] K. Smith, D. Gatica-Perez, J. Odobez and Sileye Ba, "Evaluating Multi-Object Tracking," 2005 IEEE Computer Society Conference on Computer Vision and Pattern Recognition (CVPR'05) - Workshops, San Diego, CA, USA, 2005, pp. 36-36, doi: 10.1109/CVPR.2005.453. </a:t>
            </a:r>
          </a:p>
          <a:p>
            <a:pPr algn="l" marL="604519" indent="-302260" lvl="1">
              <a:lnSpc>
                <a:spcPts val="3919"/>
              </a:lnSpc>
              <a:buFont typeface="Arial"/>
              <a:buChar char="•"/>
            </a:pPr>
            <a:r>
              <a:rPr lang="en-US" sz="2799">
                <a:solidFill>
                  <a:srgbClr val="231F20"/>
                </a:solidFill>
                <a:latin typeface="Canva Sans"/>
              </a:rPr>
              <a:t>[2] H. Song, H. Liang, H. Li, Z. Dai, and X. Yun, ―Vision based vehicle detection and counting system using deep learning in highway scenes,‖ Eur. Transp. Res. Rev., vol. 11, no. 1, p. 51, Dec. 2019. </a:t>
            </a:r>
          </a:p>
          <a:p>
            <a:pPr algn="l" marL="604519" indent="-302260" lvl="1">
              <a:lnSpc>
                <a:spcPts val="3919"/>
              </a:lnSpc>
              <a:buFont typeface="Arial"/>
              <a:buChar char="•"/>
            </a:pPr>
            <a:r>
              <a:rPr lang="en-US" sz="2799">
                <a:solidFill>
                  <a:srgbClr val="231F20"/>
                </a:solidFill>
                <a:latin typeface="Canva Sans"/>
              </a:rPr>
              <a:t>[3] Srivastava, S, Divekar, A.V, Anilkumar, C. et al. Comparative analysis of deep learning image detection algorithms. </a:t>
            </a:r>
          </a:p>
          <a:p>
            <a:pPr algn="l" marL="604519" indent="-302260" lvl="1">
              <a:lnSpc>
                <a:spcPts val="3919"/>
              </a:lnSpc>
              <a:buFont typeface="Arial"/>
              <a:buChar char="•"/>
            </a:pPr>
            <a:r>
              <a:rPr lang="en-US" sz="2799">
                <a:solidFill>
                  <a:srgbClr val="231F20"/>
                </a:solidFill>
                <a:latin typeface="Canva Sans"/>
              </a:rPr>
              <a:t>[4] J. van Leuven, M. van Leeuwen, and F. Groen, ―Real-Time Vehicle Tracking in Image Sequences,‖ Proc. IEEE Instrumentation and Measurement Technology Conf., vol. 3, pp. 2049-2054, 2001. </a:t>
            </a:r>
          </a:p>
          <a:p>
            <a:pPr algn="l" marL="604519" indent="-302260" lvl="1">
              <a:lnSpc>
                <a:spcPts val="3919"/>
              </a:lnSpc>
              <a:buFont typeface="Arial"/>
              <a:buChar char="•"/>
            </a:pPr>
            <a:r>
              <a:rPr lang="en-US" sz="2799">
                <a:solidFill>
                  <a:srgbClr val="231F20"/>
                </a:solidFill>
                <a:latin typeface="Canva Sans"/>
              </a:rPr>
              <a:t>[5] D. Sudha and J. Priyadarshini, ―An intelligent multiple vehicle detection and tracking using modified vibe algorithm and deep learning algorithm,‖ Soft Comput., vol. 0123456789, 2020. </a:t>
            </a:r>
          </a:p>
          <a:p>
            <a:pPr algn="l" marL="604519" indent="-302260" lvl="1">
              <a:lnSpc>
                <a:spcPts val="3919"/>
              </a:lnSpc>
              <a:buFont typeface="Arial"/>
              <a:buChar char="•"/>
            </a:pPr>
            <a:r>
              <a:rPr lang="en-US" sz="2799">
                <a:solidFill>
                  <a:srgbClr val="231F20"/>
                </a:solidFill>
                <a:latin typeface="Canva Sans"/>
              </a:rPr>
              <a:t>[6] Sang, J.; Wu, Z.; Guo, P.; Hu, H.; Xiang, H.; Zhang, Q.; Cai, B. An improved YOLOv2 for vehicle detection. Sensors 2018, 18, 4272.</a:t>
            </a:r>
          </a:p>
        </p:txBody>
      </p:sp>
      <p:sp>
        <p:nvSpPr>
          <p:cNvPr name="Freeform 5" id="5"/>
          <p:cNvSpPr/>
          <p:nvPr/>
        </p:nvSpPr>
        <p:spPr>
          <a:xfrm flipH="false" flipV="false" rot="887923">
            <a:off x="15605621" y="5921960"/>
            <a:ext cx="7032580" cy="7216267"/>
          </a:xfrm>
          <a:custGeom>
            <a:avLst/>
            <a:gdLst/>
            <a:ahLst/>
            <a:cxnLst/>
            <a:rect r="r" b="b" t="t" l="l"/>
            <a:pathLst>
              <a:path h="7216267" w="7032580">
                <a:moveTo>
                  <a:pt x="0" y="0"/>
                </a:moveTo>
                <a:lnTo>
                  <a:pt x="7032580" y="0"/>
                </a:lnTo>
                <a:lnTo>
                  <a:pt x="7032580" y="7216267"/>
                </a:lnTo>
                <a:lnTo>
                  <a:pt x="0" y="7216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2F4F5"/>
        </a:solidFill>
      </p:bgPr>
    </p:bg>
    <p:spTree>
      <p:nvGrpSpPr>
        <p:cNvPr id="1" name=""/>
        <p:cNvGrpSpPr/>
        <p:nvPr/>
      </p:nvGrpSpPr>
      <p:grpSpPr>
        <a:xfrm>
          <a:off x="0" y="0"/>
          <a:ext cx="0" cy="0"/>
          <a:chOff x="0" y="0"/>
          <a:chExt cx="0" cy="0"/>
        </a:xfrm>
      </p:grpSpPr>
      <p:sp>
        <p:nvSpPr>
          <p:cNvPr name="Freeform 2" id="2"/>
          <p:cNvSpPr/>
          <p:nvPr/>
        </p:nvSpPr>
        <p:spPr>
          <a:xfrm flipH="false" flipV="false" rot="887923">
            <a:off x="13549814" y="-3608134"/>
            <a:ext cx="7032580" cy="7216267"/>
          </a:xfrm>
          <a:custGeom>
            <a:avLst/>
            <a:gdLst/>
            <a:ahLst/>
            <a:cxnLst/>
            <a:rect r="r" b="b" t="t" l="l"/>
            <a:pathLst>
              <a:path h="7216267" w="7032580">
                <a:moveTo>
                  <a:pt x="0" y="0"/>
                </a:moveTo>
                <a:lnTo>
                  <a:pt x="7032580" y="0"/>
                </a:lnTo>
                <a:lnTo>
                  <a:pt x="7032580" y="7216268"/>
                </a:lnTo>
                <a:lnTo>
                  <a:pt x="0" y="72162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10867" y="-161925"/>
            <a:ext cx="9537014" cy="1594138"/>
          </a:xfrm>
          <a:prstGeom prst="rect">
            <a:avLst/>
          </a:prstGeom>
        </p:spPr>
        <p:txBody>
          <a:bodyPr anchor="t" rtlCol="false" tIns="0" lIns="0" bIns="0" rIns="0">
            <a:spAutoFit/>
          </a:bodyPr>
          <a:lstStyle/>
          <a:p>
            <a:pPr algn="l" marL="0" indent="0" lvl="0">
              <a:lnSpc>
                <a:spcPts val="13015"/>
              </a:lnSpc>
              <a:spcBef>
                <a:spcPct val="0"/>
              </a:spcBef>
            </a:pPr>
            <a:r>
              <a:rPr lang="en-US" sz="9431" spc="924">
                <a:solidFill>
                  <a:srgbClr val="231F20"/>
                </a:solidFill>
                <a:latin typeface="Oswald Bold"/>
              </a:rPr>
              <a:t>REFERENCES</a:t>
            </a:r>
          </a:p>
        </p:txBody>
      </p:sp>
      <p:sp>
        <p:nvSpPr>
          <p:cNvPr name="TextBox 4" id="4"/>
          <p:cNvSpPr txBox="true"/>
          <p:nvPr/>
        </p:nvSpPr>
        <p:spPr>
          <a:xfrm rot="0">
            <a:off x="1507722" y="1535034"/>
            <a:ext cx="13482363" cy="84061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231F20"/>
                </a:solidFill>
                <a:latin typeface="Canva Sans"/>
              </a:rPr>
              <a:t>[7] Du, L.; Chen, W.; Fu, S.; Kong, H.; Li, C.; Pei, Z. Real-time detection of vehicle and traffic light for intelligent and connected vehicles based on YOLOv3 network. In Proceedings of the 5th International Conference on Transportation Information and Safety (ICTIS), Liverpool, UK, 14–17 July 2019; IEEE: Piscataway, NJ, USA, 2019; pp. 388–392. </a:t>
            </a:r>
          </a:p>
          <a:p>
            <a:pPr algn="l" marL="604519" indent="-302260" lvl="1">
              <a:lnSpc>
                <a:spcPts val="3919"/>
              </a:lnSpc>
              <a:buFont typeface="Arial"/>
              <a:buChar char="•"/>
            </a:pPr>
            <a:r>
              <a:rPr lang="en-US" sz="2799">
                <a:solidFill>
                  <a:srgbClr val="231F20"/>
                </a:solidFill>
                <a:latin typeface="Canva Sans"/>
              </a:rPr>
              <a:t>[8] Mahto, P.; Garg, P.; Seth, P.; Panda, J. Refining YOLOv4 for Vehicle Detection. Int. J. Adv. Res. Eng. Technol. (IJARET) 2020, 11, 409–419.</a:t>
            </a:r>
          </a:p>
          <a:p>
            <a:pPr algn="l" marL="604519" indent="-302260" lvl="1">
              <a:lnSpc>
                <a:spcPts val="3919"/>
              </a:lnSpc>
              <a:buFont typeface="Arial"/>
              <a:buChar char="•"/>
            </a:pPr>
            <a:r>
              <a:rPr lang="en-US" sz="2799">
                <a:solidFill>
                  <a:srgbClr val="231F20"/>
                </a:solidFill>
                <a:latin typeface="Canva Sans"/>
              </a:rPr>
              <a:t> [9] Fei Liu, Zhiyuan Zeng, Rong Jiang, ― A video-based real-time adaptive vehicle counting system for urban roads‖. </a:t>
            </a:r>
          </a:p>
          <a:p>
            <a:pPr algn="l" marL="604519" indent="-302260" lvl="1">
              <a:lnSpc>
                <a:spcPts val="3919"/>
              </a:lnSpc>
              <a:buFont typeface="Arial"/>
              <a:buChar char="•"/>
            </a:pPr>
            <a:r>
              <a:rPr lang="en-US" sz="2799">
                <a:solidFill>
                  <a:srgbClr val="231F20"/>
                </a:solidFill>
                <a:latin typeface="Canva Sans"/>
              </a:rPr>
              <a:t>[10] S. Sheik Mohammed Ali, B. George, L. Vanajakshi, and J. Venkatraman, ―A multiple inductive loop vehicle detection system for heterogeneous and lane-less traffic,‖ IEEE Trans. Instrum. Meas., vol. 61, no. 5, pp. 1353– 1360, 2012. </a:t>
            </a:r>
          </a:p>
          <a:p>
            <a:pPr algn="l" marL="604519" indent="-302260" lvl="1">
              <a:lnSpc>
                <a:spcPts val="3919"/>
              </a:lnSpc>
              <a:buFont typeface="Arial"/>
              <a:buChar char="•"/>
            </a:pPr>
            <a:r>
              <a:rPr lang="en-US" sz="2799">
                <a:solidFill>
                  <a:srgbClr val="231F20"/>
                </a:solidFill>
                <a:latin typeface="Canva Sans"/>
              </a:rPr>
              <a:t>[11] Neupane, Bipul, Teerayut Horanont, and Jagannath Aryal. "Real-Time Vehicle Classification and Tracking Using a Transfer Learning-Improved Deep Learning Network." Sensors 22.10 (2022): 3813. </a:t>
            </a:r>
          </a:p>
          <a:p>
            <a:pPr algn="l">
              <a:lnSpc>
                <a:spcPts val="3919"/>
              </a:lnSpc>
            </a:pPr>
          </a:p>
        </p:txBody>
      </p:sp>
      <p:sp>
        <p:nvSpPr>
          <p:cNvPr name="Freeform 5" id="5"/>
          <p:cNvSpPr/>
          <p:nvPr/>
        </p:nvSpPr>
        <p:spPr>
          <a:xfrm flipH="false" flipV="false" rot="887923">
            <a:off x="15605621" y="5921960"/>
            <a:ext cx="7032580" cy="7216267"/>
          </a:xfrm>
          <a:custGeom>
            <a:avLst/>
            <a:gdLst/>
            <a:ahLst/>
            <a:cxnLst/>
            <a:rect r="r" b="b" t="t" l="l"/>
            <a:pathLst>
              <a:path h="7216267" w="7032580">
                <a:moveTo>
                  <a:pt x="0" y="0"/>
                </a:moveTo>
                <a:lnTo>
                  <a:pt x="7032580" y="0"/>
                </a:lnTo>
                <a:lnTo>
                  <a:pt x="7032580" y="7216267"/>
                </a:lnTo>
                <a:lnTo>
                  <a:pt x="0" y="7216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0" t="-38888" r="0" b="-38888"/>
            </a:stretch>
          </a:blipFill>
        </p:spPr>
      </p:sp>
      <p:sp>
        <p:nvSpPr>
          <p:cNvPr name="Freeform 3" id="3"/>
          <p:cNvSpPr/>
          <p:nvPr/>
        </p:nvSpPr>
        <p:spPr>
          <a:xfrm flipH="false" flipV="false" rot="-10580377">
            <a:off x="10803212" y="-8976588"/>
            <a:ext cx="24036383" cy="24664199"/>
          </a:xfrm>
          <a:custGeom>
            <a:avLst/>
            <a:gdLst/>
            <a:ahLst/>
            <a:cxnLst/>
            <a:rect r="r" b="b" t="t" l="l"/>
            <a:pathLst>
              <a:path h="24664199" w="24036383">
                <a:moveTo>
                  <a:pt x="0" y="0"/>
                </a:moveTo>
                <a:lnTo>
                  <a:pt x="24036383" y="0"/>
                </a:lnTo>
                <a:lnTo>
                  <a:pt x="24036383" y="24664198"/>
                </a:lnTo>
                <a:lnTo>
                  <a:pt x="0" y="246641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2083290"/>
            <a:ext cx="8032456" cy="5929919"/>
          </a:xfrm>
          <a:prstGeom prst="rect">
            <a:avLst/>
          </a:prstGeom>
        </p:spPr>
        <p:txBody>
          <a:bodyPr anchor="t" rtlCol="false" tIns="0" lIns="0" bIns="0" rIns="0">
            <a:spAutoFit/>
          </a:bodyPr>
          <a:lstStyle/>
          <a:p>
            <a:pPr algn="ctr">
              <a:lnSpc>
                <a:spcPts val="15775"/>
              </a:lnSpc>
            </a:pPr>
            <a:r>
              <a:rPr lang="en-US" sz="11431" spc="1120">
                <a:solidFill>
                  <a:srgbClr val="231F20"/>
                </a:solidFill>
                <a:latin typeface="Oswald Bold"/>
              </a:rPr>
              <a:t>THANKS FOR WATCHING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DAF9bU4repQ</dc:identifier>
  <dcterms:modified xsi:type="dcterms:W3CDTF">2011-08-01T06:04:30Z</dcterms:modified>
  <cp:revision>1</cp:revision>
  <dc:title>Grey minimalist business project presentation </dc:title>
</cp:coreProperties>
</file>